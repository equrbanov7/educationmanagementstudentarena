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b17c9c9f40462c" /><Relationship Type="http://schemas.openxmlformats.org/officeDocument/2006/relationships/extended-properties" Target="/docProps/app.xml" Id="R6984ac57016e4672" /><Relationship Type="http://schemas.openxmlformats.org/officeDocument/2006/relationships/officeDocument" Target="/ppt/presentation.xml" Id="Radf3007b7bda41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40bfb76ab6409f"/>
  </p:sldMasterIdLst>
  <p:notesMasterIdLst>
    <p:notesMasterId xmlns:r="http://schemas.openxmlformats.org/officeDocument/2006/relationships" r:id="R6293ea5c59524f6c"/>
  </p:notesMasterIdLst>
  <p:sldIdLst>
    <p:sldId xmlns:r="http://schemas.openxmlformats.org/officeDocument/2006/relationships" id="256" r:id="R8a0119dbb5084bd7"/>
    <p:sldId xmlns:r="http://schemas.openxmlformats.org/officeDocument/2006/relationships" id="257" r:id="R7f911e6d841a43f6"/>
    <p:sldId xmlns:r="http://schemas.openxmlformats.org/officeDocument/2006/relationships" id="258" r:id="R99bc400afd3f4791"/>
    <p:sldId xmlns:r="http://schemas.openxmlformats.org/officeDocument/2006/relationships" id="259" r:id="R09f3f984c6624254"/>
    <p:sldId xmlns:r="http://schemas.openxmlformats.org/officeDocument/2006/relationships" id="260" r:id="R7b10ed3979c44869"/>
    <p:sldId xmlns:r="http://schemas.openxmlformats.org/officeDocument/2006/relationships" id="261" r:id="R392d3d99c0f74564"/>
    <p:sldId xmlns:r="http://schemas.openxmlformats.org/officeDocument/2006/relationships" id="262" r:id="R8d1a0874103f4875"/>
    <p:sldId xmlns:r="http://schemas.openxmlformats.org/officeDocument/2006/relationships" id="263" r:id="R696a5e7843604835"/>
    <p:sldId xmlns:r="http://schemas.openxmlformats.org/officeDocument/2006/relationships" id="264" r:id="Rf246f1ef722c411f"/>
    <p:sldId xmlns:r="http://schemas.openxmlformats.org/officeDocument/2006/relationships" id="265" r:id="R1212ca703cd245c1"/>
    <p:sldId xmlns:r="http://schemas.openxmlformats.org/officeDocument/2006/relationships" id="266" r:id="Rd0894d9fe84b4263"/>
    <p:sldId xmlns:r="http://schemas.openxmlformats.org/officeDocument/2006/relationships" id="267" r:id="Rb71357b2556342d6"/>
    <p:sldId xmlns:r="http://schemas.openxmlformats.org/officeDocument/2006/relationships" id="268" r:id="Rbc93a213b9ec4507"/>
    <p:sldId xmlns:r="http://schemas.openxmlformats.org/officeDocument/2006/relationships" id="269" r:id="R6c9c97cd17804610"/>
    <p:sldId xmlns:r="http://schemas.openxmlformats.org/officeDocument/2006/relationships" id="270" r:id="R4cf8004ae2684104"/>
    <p:sldId xmlns:r="http://schemas.openxmlformats.org/officeDocument/2006/relationships" id="271" r:id="R307bb06061d1485c"/>
    <p:sldId xmlns:r="http://schemas.openxmlformats.org/officeDocument/2006/relationships" id="272" r:id="Rc02624d36d424661"/>
    <p:sldId xmlns:r="http://schemas.openxmlformats.org/officeDocument/2006/relationships" id="273" r:id="R0449c2ecf4f74093"/>
    <p:sldId xmlns:r="http://schemas.openxmlformats.org/officeDocument/2006/relationships" id="274" r:id="Rd1d037b7e22e4e25"/>
    <p:sldId xmlns:r="http://schemas.openxmlformats.org/officeDocument/2006/relationships" id="275" r:id="Re4de91afafc140b5"/>
    <p:sldId xmlns:r="http://schemas.openxmlformats.org/officeDocument/2006/relationships" id="276" r:id="R306f7d7f93084497"/>
    <p:sldId xmlns:r="http://schemas.openxmlformats.org/officeDocument/2006/relationships" id="277" r:id="Rd49b30206f0b4bca"/>
    <p:sldId xmlns:r="http://schemas.openxmlformats.org/officeDocument/2006/relationships" id="278" r:id="R879d70554f064ab0"/>
    <p:sldId xmlns:r="http://schemas.openxmlformats.org/officeDocument/2006/relationships" id="279" r:id="Re1a9b20758a643a0"/>
    <p:sldId xmlns:r="http://schemas.openxmlformats.org/officeDocument/2006/relationships" id="280" r:id="Re00c0d81f4fd43b1"/>
    <p:sldId xmlns:r="http://schemas.openxmlformats.org/officeDocument/2006/relationships" id="281" r:id="Re20f22d12e7d43ca"/>
    <p:sldId xmlns:r="http://schemas.openxmlformats.org/officeDocument/2006/relationships" id="282" r:id="R10dd8cdf85224353"/>
    <p:sldId xmlns:r="http://schemas.openxmlformats.org/officeDocument/2006/relationships" id="283" r:id="Rb1df8b02fc8f441b"/>
    <p:sldId xmlns:r="http://schemas.openxmlformats.org/officeDocument/2006/relationships" id="284" r:id="Rd6d903ab5f99475f"/>
    <p:sldId xmlns:r="http://schemas.openxmlformats.org/officeDocument/2006/relationships" id="285" r:id="Rc8ed05d0c79141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02d0f024014d9b" /><Relationship Type="http://schemas.openxmlformats.org/officeDocument/2006/relationships/slideMaster" Target="/ppt/slideMasters/slideMaster1.xml" Id="R4240bfb76ab6409f" /><Relationship Type="http://schemas.openxmlformats.org/officeDocument/2006/relationships/notesMaster" Target="/ppt/notesMasters/notesMaster1.xml" Id="R6293ea5c59524f6c" /><Relationship Type="http://schemas.openxmlformats.org/officeDocument/2006/relationships/presProps" Target="/ppt/presProps.xml" Id="R60f2f94f029e4686" /><Relationship Type="http://schemas.openxmlformats.org/officeDocument/2006/relationships/viewProps" Target="/ppt/viewProps.xml" Id="Rd43345c60a4447ee" /><Relationship Type="http://schemas.openxmlformats.org/officeDocument/2006/relationships/tableStyles" Target="/ppt/tableStyles.xml" Id="Ra10d17d63cb64611" /><Relationship Type="http://schemas.openxmlformats.org/officeDocument/2006/relationships/slide" Target="/ppt/slides/slide1.xml" Id="R8a0119dbb5084bd7" /><Relationship Type="http://schemas.openxmlformats.org/officeDocument/2006/relationships/slide" Target="/ppt/slides/slide2.xml" Id="R7f911e6d841a43f6" /><Relationship Type="http://schemas.openxmlformats.org/officeDocument/2006/relationships/slide" Target="/ppt/slides/slide3.xml" Id="R99bc400afd3f4791" /><Relationship Type="http://schemas.openxmlformats.org/officeDocument/2006/relationships/slide" Target="/ppt/slides/slide4.xml" Id="R09f3f984c6624254" /><Relationship Type="http://schemas.openxmlformats.org/officeDocument/2006/relationships/slide" Target="/ppt/slides/slide5.xml" Id="R7b10ed3979c44869" /><Relationship Type="http://schemas.openxmlformats.org/officeDocument/2006/relationships/slide" Target="/ppt/slides/slide6.xml" Id="R392d3d99c0f74564" /><Relationship Type="http://schemas.openxmlformats.org/officeDocument/2006/relationships/slide" Target="/ppt/slides/slide7.xml" Id="R8d1a0874103f4875" /><Relationship Type="http://schemas.openxmlformats.org/officeDocument/2006/relationships/slide" Target="/ppt/slides/slide8.xml" Id="R696a5e7843604835" /><Relationship Type="http://schemas.openxmlformats.org/officeDocument/2006/relationships/slide" Target="/ppt/slides/slide9.xml" Id="Rf246f1ef722c411f" /><Relationship Type="http://schemas.openxmlformats.org/officeDocument/2006/relationships/slide" Target="/ppt/slides/slide10.xml" Id="R1212ca703cd245c1" /><Relationship Type="http://schemas.openxmlformats.org/officeDocument/2006/relationships/slide" Target="/ppt/slides/slide11.xml" Id="Rd0894d9fe84b4263" /><Relationship Type="http://schemas.openxmlformats.org/officeDocument/2006/relationships/slide" Target="/ppt/slides/slide12.xml" Id="Rb71357b2556342d6" /><Relationship Type="http://schemas.openxmlformats.org/officeDocument/2006/relationships/slide" Target="/ppt/slides/slide13.xml" Id="Rbc93a213b9ec4507" /><Relationship Type="http://schemas.openxmlformats.org/officeDocument/2006/relationships/slide" Target="/ppt/slides/slide14.xml" Id="R6c9c97cd17804610" /><Relationship Type="http://schemas.openxmlformats.org/officeDocument/2006/relationships/slide" Target="/ppt/slides/slide15.xml" Id="R4cf8004ae2684104" /><Relationship Type="http://schemas.openxmlformats.org/officeDocument/2006/relationships/slide" Target="/ppt/slides/slide16.xml" Id="R307bb06061d1485c" /><Relationship Type="http://schemas.openxmlformats.org/officeDocument/2006/relationships/slide" Target="/ppt/slides/slide17.xml" Id="Rc02624d36d424661" /><Relationship Type="http://schemas.openxmlformats.org/officeDocument/2006/relationships/slide" Target="/ppt/slides/slide18.xml" Id="R0449c2ecf4f74093" /><Relationship Type="http://schemas.openxmlformats.org/officeDocument/2006/relationships/slide" Target="/ppt/slides/slide19.xml" Id="Rd1d037b7e22e4e25" /><Relationship Type="http://schemas.openxmlformats.org/officeDocument/2006/relationships/slide" Target="/ppt/slides/slide20.xml" Id="Re4de91afafc140b5" /><Relationship Type="http://schemas.openxmlformats.org/officeDocument/2006/relationships/slide" Target="/ppt/slides/slide21.xml" Id="R306f7d7f93084497" /><Relationship Type="http://schemas.openxmlformats.org/officeDocument/2006/relationships/slide" Target="/ppt/slides/slide22.xml" Id="Rd49b30206f0b4bca" /><Relationship Type="http://schemas.openxmlformats.org/officeDocument/2006/relationships/slide" Target="/ppt/slides/slide23.xml" Id="R879d70554f064ab0" /><Relationship Type="http://schemas.openxmlformats.org/officeDocument/2006/relationships/slide" Target="/ppt/slides/slide24.xml" Id="Re1a9b20758a643a0" /><Relationship Type="http://schemas.openxmlformats.org/officeDocument/2006/relationships/slide" Target="/ppt/slides/slide25.xml" Id="Re00c0d81f4fd43b1" /><Relationship Type="http://schemas.openxmlformats.org/officeDocument/2006/relationships/slide" Target="/ppt/slides/slide26.xml" Id="Re20f22d12e7d43ca" /><Relationship Type="http://schemas.openxmlformats.org/officeDocument/2006/relationships/slide" Target="/ppt/slides/slide27.xml" Id="R10dd8cdf85224353" /><Relationship Type="http://schemas.openxmlformats.org/officeDocument/2006/relationships/slide" Target="/ppt/slides/slide28.xml" Id="Rb1df8b02fc8f441b" /><Relationship Type="http://schemas.openxmlformats.org/officeDocument/2006/relationships/slide" Target="/ppt/slides/slide29.xml" Id="Rd6d903ab5f99475f" /><Relationship Type="http://schemas.openxmlformats.org/officeDocument/2006/relationships/slide" Target="/ppt/slides/slide30.xml" Id="Rc8ed05d0c79141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39057477ac41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2e88c91e774d20" /><Relationship Type="http://schemas.openxmlformats.org/officeDocument/2006/relationships/notesMaster" Target="/ppt/notesMasters/notesMaster1.xml" Id="R2c79d1aa6fa743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bf2b087f9b4d58" /><Relationship Type="http://schemas.openxmlformats.org/officeDocument/2006/relationships/notesMaster" Target="/ppt/notesMasters/notesMaster1.xml" Id="R54355d0e5e6b42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89eaa1993c4de6" /><Relationship Type="http://schemas.openxmlformats.org/officeDocument/2006/relationships/notesMaster" Target="/ppt/notesMasters/notesMaster1.xml" Id="R0da8ebc782c341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f0398c282e476f" /><Relationship Type="http://schemas.openxmlformats.org/officeDocument/2006/relationships/notesMaster" Target="/ppt/notesMasters/notesMaster1.xml" Id="R70b748a1f32b44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ad0e456eae4e6c" /><Relationship Type="http://schemas.openxmlformats.org/officeDocument/2006/relationships/notesMaster" Target="/ppt/notesMasters/notesMaster1.xml" Id="R1af277b74d994a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54533f73c84f5c" /><Relationship Type="http://schemas.openxmlformats.org/officeDocument/2006/relationships/notesMaster" Target="/ppt/notesMasters/notesMaster1.xml" Id="R8703e9ce0c1247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197cbfb8a04d2f" /><Relationship Type="http://schemas.openxmlformats.org/officeDocument/2006/relationships/notesMaster" Target="/ppt/notesMasters/notesMaster1.xml" Id="Ra4fd552dd86442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d98679b2304115" /><Relationship Type="http://schemas.openxmlformats.org/officeDocument/2006/relationships/notesMaster" Target="/ppt/notesMasters/notesMaster1.xml" Id="R6780ea94494043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312fed125648e1" /><Relationship Type="http://schemas.openxmlformats.org/officeDocument/2006/relationships/notesMaster" Target="/ppt/notesMasters/notesMaster1.xml" Id="Rab1b28efd32346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ad9244e72f4630" /><Relationship Type="http://schemas.openxmlformats.org/officeDocument/2006/relationships/notesMaster" Target="/ppt/notesMasters/notesMaster1.xml" Id="R2d22115b9e414f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45666016e34b3b" /><Relationship Type="http://schemas.openxmlformats.org/officeDocument/2006/relationships/notesMaster" Target="/ppt/notesMasters/notesMaster1.xml" Id="R494edf3b479147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3e5d2ec4464b07" /><Relationship Type="http://schemas.openxmlformats.org/officeDocument/2006/relationships/notesMaster" Target="/ppt/notesMasters/notesMaster1.xml" Id="Racd511ace4c744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ec627a5571440e" /><Relationship Type="http://schemas.openxmlformats.org/officeDocument/2006/relationships/notesMaster" Target="/ppt/notesMasters/notesMaster1.xml" Id="R2c83aed00bca48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15089e2eab4eae" /><Relationship Type="http://schemas.openxmlformats.org/officeDocument/2006/relationships/notesMaster" Target="/ppt/notesMasters/notesMaster1.xml" Id="R670842aa03bf41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7cf2afe5394de6" /><Relationship Type="http://schemas.openxmlformats.org/officeDocument/2006/relationships/notesMaster" Target="/ppt/notesMasters/notesMaster1.xml" Id="Red98acb521c844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530aa38cb54d56" /><Relationship Type="http://schemas.openxmlformats.org/officeDocument/2006/relationships/notesMaster" Target="/ppt/notesMasters/notesMaster1.xml" Id="R8376d98f71e04e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ddc592ebc04914" /><Relationship Type="http://schemas.openxmlformats.org/officeDocument/2006/relationships/notesMaster" Target="/ppt/notesMasters/notesMaster1.xml" Id="R7f0c9d8fde18467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70eeaee9994550" /><Relationship Type="http://schemas.openxmlformats.org/officeDocument/2006/relationships/notesMaster" Target="/ppt/notesMasters/notesMaster1.xml" Id="R3dc4f2f4fed342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de5b2a2f0b4b23" /><Relationship Type="http://schemas.openxmlformats.org/officeDocument/2006/relationships/notesMaster" Target="/ppt/notesMasters/notesMaster1.xml" Id="Rf05b687e5bca43f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df1971f9570435d" /><Relationship Type="http://schemas.openxmlformats.org/officeDocument/2006/relationships/notesMaster" Target="/ppt/notesMasters/notesMaster1.xml" Id="R789639e465034be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cc6bfd896224805" /><Relationship Type="http://schemas.openxmlformats.org/officeDocument/2006/relationships/notesMaster" Target="/ppt/notesMasters/notesMaster1.xml" Id="Rbb384f7fee144f2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a032ede43174c42" /><Relationship Type="http://schemas.openxmlformats.org/officeDocument/2006/relationships/notesMaster" Target="/ppt/notesMasters/notesMaster1.xml" Id="R365fd29ced82463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6b4c034573c4c53" /><Relationship Type="http://schemas.openxmlformats.org/officeDocument/2006/relationships/notesMaster" Target="/ppt/notesMasters/notesMaster1.xml" Id="Rbba8371bf338419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9b8249824e0489e" /><Relationship Type="http://schemas.openxmlformats.org/officeDocument/2006/relationships/notesMaster" Target="/ppt/notesMasters/notesMaster1.xml" Id="Rba767f9ac59f4ec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2bcdfbeca8942d2" /><Relationship Type="http://schemas.openxmlformats.org/officeDocument/2006/relationships/notesMaster" Target="/ppt/notesMasters/notesMaster1.xml" Id="Rc98d7adacc134e4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cc482f55d66471e" /><Relationship Type="http://schemas.openxmlformats.org/officeDocument/2006/relationships/notesMaster" Target="/ppt/notesMasters/notesMaster1.xml" Id="R5203ac48fbbb4e9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a01dbeb8a444493" /><Relationship Type="http://schemas.openxmlformats.org/officeDocument/2006/relationships/notesMaster" Target="/ppt/notesMasters/notesMaster1.xml" Id="Re44bc730262c43b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29fb990fbff495f" /><Relationship Type="http://schemas.openxmlformats.org/officeDocument/2006/relationships/notesMaster" Target="/ppt/notesMasters/notesMaster1.xml" Id="R4eb6bcf97cd74d0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e9d0f36f14d4758" /><Relationship Type="http://schemas.openxmlformats.org/officeDocument/2006/relationships/notesMaster" Target="/ppt/notesMasters/notesMaster1.xml" Id="R27dd13f5720c499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14c11959c954e84" /><Relationship Type="http://schemas.openxmlformats.org/officeDocument/2006/relationships/notesMaster" Target="/ppt/notesMasters/notesMaster1.xml" Id="Rb32e3d9b9cee49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1187f088c46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948aeffd44b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6af5d9d6d46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5f541abb747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cfa6de18bb4d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a717f454e47e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d06654ab4489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54655f664f4e0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19d23df334e3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a9bfc268e47c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8cf05ecda24b1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CD0266-BA35-498B-9812-247FF2BD7BF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E5FDBD0-4F70-426B-AB04-83EACAFB4C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F34C091-03E8-4A67-8C9F-08FE13CE8B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7/26/26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4D51A56-2783-45D0-8256-2BD5045568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6FA29F-521B-4E3C-A227-308F14FA78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CF55EF-2F09-41EB-A124-F37D8B783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2C09D4F-EC66-4156-9856-4D548DAC39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6BAEDF-F11A-46E8-BCF4-D3EEA5A312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7/26/26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4F6617-AA82-455F-80CA-77E4870EE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9CF296-ADEC-4CC6-B958-984DF31E49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B8A2A9-02E3-4388-A256-695B173E88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92B71A5-E321-4226-A52A-5F5B341DD2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C1B31D-E95C-409D-9EDB-1CD31FA142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7/26/26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5BD448-9ECB-47FE-84E5-30CE013E8E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B21C8F-89EE-45A3-9791-A09E553235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06AC30-EC45-43E1-B01F-DE35A00318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CF543F0-EF17-4FDF-B160-767E8ACAA9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EE5E04B-144A-469A-B22D-BAA21AD05AC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B6B5689-16D1-44FB-B806-E082C6E7B4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7/26/26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E0F94A-B895-4EBF-904A-0532A9D5A8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43A3BEE-173B-4C1F-9C59-366C405F88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BEE15C-0382-462A-ADE0-3F04422A5C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060B365-35D4-4F4F-A4F7-EA71916FE2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ED2664C-74BD-47C6-BACF-4126620955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B5398B1-F5E6-4D82-A839-CBDD8D62AF4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20EC0BD-B300-4324-AB26-78036ED988C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69DB2E8-45BF-4161-A725-0A1FB49F35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7/26/26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1B67634-7F9F-4212-8466-C4DB5E4B94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348EC68-32E5-498F-9311-0A5B2B5613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62C9B6-3FBF-4156-AFEC-BE56F51AFC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ED57611-CDDB-467B-AF5A-22E4112682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7/26/26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6DED2F1-E463-479F-8FEC-449B05F378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D207AE6-DB59-43F7-B3A8-51E61BEAA9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AD41F51-1E5A-4D94-8880-CEDCFA85A3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7/26/26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4981B5A-C065-404E-81AA-8F814AEAFC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A8E4ADF-F0D1-4E21-A8F8-3AD38DE6C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1BB22C9-7E3A-4662-8D55-936ABC9024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0358FCA-2098-4960-B557-AEBEFD5C00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1F87C26-6732-463F-8B1F-340B9B6948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E892308-9308-4BCF-AA31-33D91BAC65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7/26/26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B5D909E-E0C0-44A3-A64A-AACCAA50E5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35F2337-0A46-430D-B8FD-C4BE74827E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A9BF9C-5C3F-4201-AF05-97CF0ED7DA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3D9E5C5-282A-4E45-A533-76CD7C8FC8A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326910C-BA71-4096-B600-DBE1FD71BC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2A1B463-8F2F-4F3E-BAAE-4CDDE585A8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7/26/26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244A0AD-08FF-4B2D-9B8F-4BCFEB86C5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D4F5F9F-C8D4-424D-B06E-EDAFEA1744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2D4C47-A11A-4045-8F58-DE44CE66B0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707AE8-92A2-4E09-9CFA-629B8CB72D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B0053A-A282-4240-A74D-33EB32772B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7/26/26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098846-4CC7-45F9-993A-8B008FBB9B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4A98BD-E0D8-4925-A2F9-B8068CB7CF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2627E5F-F675-4314-87F8-AC7486B01B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9D53B2-ED66-49E2-86BB-B7BA90C3ED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36F308-F8AF-4D49-98C7-90B731B854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7/26/26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4FB38B-E0B4-45BA-880C-6AB78F9B79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BD2FD4-CA62-41E5-A9CD-B675967EED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ed28fe6274428e" /><Relationship Type="http://schemas.openxmlformats.org/officeDocument/2006/relationships/slideLayout" Target="/ppt/slideLayouts/slideLayout1.xml" Id="R1e6d54aca9dc4d94" /><Relationship Type="http://schemas.openxmlformats.org/officeDocument/2006/relationships/slideLayout" Target="/ppt/slideLayouts/slideLayout2.xml" Id="Rcbbd61636d004e8d" /><Relationship Type="http://schemas.openxmlformats.org/officeDocument/2006/relationships/slideLayout" Target="/ppt/slideLayouts/slideLayout3.xml" Id="R1a0e3835881842ee" /><Relationship Type="http://schemas.openxmlformats.org/officeDocument/2006/relationships/slideLayout" Target="/ppt/slideLayouts/slideLayout4.xml" Id="Ra01d9799b7664aa6" /><Relationship Type="http://schemas.openxmlformats.org/officeDocument/2006/relationships/slideLayout" Target="/ppt/slideLayouts/slideLayout5.xml" Id="R371aeb57e2da493f" /><Relationship Type="http://schemas.openxmlformats.org/officeDocument/2006/relationships/slideLayout" Target="/ppt/slideLayouts/slideLayout6.xml" Id="R2926c1cedced493c" /><Relationship Type="http://schemas.openxmlformats.org/officeDocument/2006/relationships/slideLayout" Target="/ppt/slideLayouts/slideLayout7.xml" Id="R213fe6d28b634690" /><Relationship Type="http://schemas.openxmlformats.org/officeDocument/2006/relationships/slideLayout" Target="/ppt/slideLayouts/slideLayout8.xml" Id="Re322586d728044b8" /><Relationship Type="http://schemas.openxmlformats.org/officeDocument/2006/relationships/slideLayout" Target="/ppt/slideLayouts/slideLayout9.xml" Id="Ra90f3edd3e714289" /><Relationship Type="http://schemas.openxmlformats.org/officeDocument/2006/relationships/slideLayout" Target="/ppt/slideLayouts/slideLayout10.xml" Id="R96c03fc859644fc9" /><Relationship Type="http://schemas.openxmlformats.org/officeDocument/2006/relationships/slideLayout" Target="/ppt/slideLayouts/slideLayout11.xml" Id="Re182dbd1cff6464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3210817-4EEF-4293-883E-56596536EA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BFC28B-1BE2-4E87-A96C-5C904D464C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E8EE866-D497-413D-9358-B1BDC6D53B6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7/26/26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B90C5C-0FC3-446E-B561-7A99A094E80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564410-38DB-4BF4-911F-F8DA762AF1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6d54aca9dc4d94"/>
    <p:sldLayoutId xmlns:r="http://schemas.openxmlformats.org/officeDocument/2006/relationships" id="2147483650" r:id="Rcbbd61636d004e8d"/>
    <p:sldLayoutId xmlns:r="http://schemas.openxmlformats.org/officeDocument/2006/relationships" id="2147483651" r:id="R1a0e3835881842ee"/>
    <p:sldLayoutId xmlns:r="http://schemas.openxmlformats.org/officeDocument/2006/relationships" id="2147483652" r:id="Ra01d9799b7664aa6"/>
    <p:sldLayoutId xmlns:r="http://schemas.openxmlformats.org/officeDocument/2006/relationships" id="2147483653" r:id="R371aeb57e2da493f"/>
    <p:sldLayoutId xmlns:r="http://schemas.openxmlformats.org/officeDocument/2006/relationships" id="2147483654" r:id="R2926c1cedced493c"/>
    <p:sldLayoutId xmlns:r="http://schemas.openxmlformats.org/officeDocument/2006/relationships" id="2147483655" r:id="R213fe6d28b634690"/>
    <p:sldLayoutId xmlns:r="http://schemas.openxmlformats.org/officeDocument/2006/relationships" id="2147483656" r:id="Re322586d728044b8"/>
    <p:sldLayoutId xmlns:r="http://schemas.openxmlformats.org/officeDocument/2006/relationships" id="2147483657" r:id="Ra90f3edd3e714289"/>
    <p:sldLayoutId xmlns:r="http://schemas.openxmlformats.org/officeDocument/2006/relationships" id="2147483658" r:id="R96c03fc859644fc9"/>
    <p:sldLayoutId xmlns:r="http://schemas.openxmlformats.org/officeDocument/2006/relationships" id="2147483659" r:id="Re182dbd1cff64643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7bff18924a438c" /><Relationship Type="http://schemas.openxmlformats.org/officeDocument/2006/relationships/notesSlide" Target="/ppt/notesSlides/notesSlide1.xml" Id="R54df736f10e34a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251745894b4c27" /><Relationship Type="http://schemas.openxmlformats.org/officeDocument/2006/relationships/notesSlide" Target="/ppt/notesSlides/notesSlide2.xml" Id="Rd7e36c2b06ce43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b846833eb74bb2" /><Relationship Type="http://schemas.openxmlformats.org/officeDocument/2006/relationships/notesSlide" Target="/ppt/notesSlides/notesSlide3.xml" Id="Rf43919b3f71344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67778755974216" /><Relationship Type="http://schemas.openxmlformats.org/officeDocument/2006/relationships/image" Target="/ppt/media/image.png" Id="R236a62d218de402f" /><Relationship Type="http://schemas.openxmlformats.org/officeDocument/2006/relationships/notesSlide" Target="/ppt/notesSlides/notesSlide4.xml" Id="R4a720862501044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2bc6ba10e245c4" /><Relationship Type="http://schemas.openxmlformats.org/officeDocument/2006/relationships/notesSlide" Target="/ppt/notesSlides/notesSlide5.xml" Id="R21949412caab46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a085353cf0463c" /><Relationship Type="http://schemas.openxmlformats.org/officeDocument/2006/relationships/image" Target="/ppt/media/image2.png" Id="Rfff4b71ce2eb4e5c" /><Relationship Type="http://schemas.openxmlformats.org/officeDocument/2006/relationships/notesSlide" Target="/ppt/notesSlides/notesSlide6.xml" Id="R9f476a93e58c4b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04c9b43dc1461d" /><Relationship Type="http://schemas.openxmlformats.org/officeDocument/2006/relationships/image" Target="/ppt/media/image3.png" Id="R26f4326f0f7c4522" /><Relationship Type="http://schemas.openxmlformats.org/officeDocument/2006/relationships/notesSlide" Target="/ppt/notesSlides/notesSlide7.xml" Id="Rb7bda6fa6f0544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250c1878074282" /><Relationship Type="http://schemas.openxmlformats.org/officeDocument/2006/relationships/image" Target="/ppt/media/image4.png" Id="R81a53795e3864a21" /><Relationship Type="http://schemas.openxmlformats.org/officeDocument/2006/relationships/notesSlide" Target="/ppt/notesSlides/notesSlide8.xml" Id="Rc74eb330b8464e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a823740d744659" /><Relationship Type="http://schemas.openxmlformats.org/officeDocument/2006/relationships/image" Target="/ppt/media/image5.png" Id="R69504e65fce7477a" /><Relationship Type="http://schemas.openxmlformats.org/officeDocument/2006/relationships/notesSlide" Target="/ppt/notesSlides/notesSlide9.xml" Id="R924bf347f7e044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d57fe005ad4f87" /><Relationship Type="http://schemas.openxmlformats.org/officeDocument/2006/relationships/image" Target="/ppt/media/image6.png" Id="Re7a1a2e7eeb6427f" /><Relationship Type="http://schemas.openxmlformats.org/officeDocument/2006/relationships/notesSlide" Target="/ppt/notesSlides/notesSlide10.xml" Id="R2d97c137baad4d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076c0edfe94846" /><Relationship Type="http://schemas.openxmlformats.org/officeDocument/2006/relationships/image" Target="/ppt/media/image7.png" Id="Ra921ebfc9c52480b" /><Relationship Type="http://schemas.openxmlformats.org/officeDocument/2006/relationships/notesSlide" Target="/ppt/notesSlides/notesSlide11.xml" Id="Rbb8e0c1b396546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8bc57fc2a043d3" /><Relationship Type="http://schemas.openxmlformats.org/officeDocument/2006/relationships/image" Target="/ppt/media/image8.png" Id="R1dbe2de73e774bd2" /><Relationship Type="http://schemas.openxmlformats.org/officeDocument/2006/relationships/notesSlide" Target="/ppt/notesSlides/notesSlide12.xml" Id="R00d338754d1348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eeb55a012f428c" /><Relationship Type="http://schemas.openxmlformats.org/officeDocument/2006/relationships/image" Target="/ppt/media/image9.png" Id="Ra9e45a882dd64484" /><Relationship Type="http://schemas.openxmlformats.org/officeDocument/2006/relationships/notesSlide" Target="/ppt/notesSlides/notesSlide13.xml" Id="R0533352aa8c84a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2322a8807f4e82" /><Relationship Type="http://schemas.openxmlformats.org/officeDocument/2006/relationships/notesSlide" Target="/ppt/notesSlides/notesSlide14.xml" Id="R233558dae22848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d326d3bf5447e9" /><Relationship Type="http://schemas.openxmlformats.org/officeDocument/2006/relationships/image" Target="/ppt/media/image10.png" Id="Rd70f3056b5f34749" /><Relationship Type="http://schemas.openxmlformats.org/officeDocument/2006/relationships/notesSlide" Target="/ppt/notesSlides/notesSlide15.xml" Id="Rb3238c2337da44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d4e0747fef4c8b" /><Relationship Type="http://schemas.openxmlformats.org/officeDocument/2006/relationships/image" Target="/ppt/media/image11.png" Id="Rc47c95d4f14740c7" /><Relationship Type="http://schemas.openxmlformats.org/officeDocument/2006/relationships/notesSlide" Target="/ppt/notesSlides/notesSlide16.xml" Id="Rd1eee232dec741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1a8ce94f934958" /><Relationship Type="http://schemas.openxmlformats.org/officeDocument/2006/relationships/image" Target="/ppt/media/image12.png" Id="R11fbeb8f4e89479e" /><Relationship Type="http://schemas.openxmlformats.org/officeDocument/2006/relationships/notesSlide" Target="/ppt/notesSlides/notesSlide17.xml" Id="R93a1d436357043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7656f3c862474e" /><Relationship Type="http://schemas.openxmlformats.org/officeDocument/2006/relationships/image" Target="/ppt/media/image13.png" Id="R91d32318897b4203" /><Relationship Type="http://schemas.openxmlformats.org/officeDocument/2006/relationships/notesSlide" Target="/ppt/notesSlides/notesSlide18.xml" Id="Radc2b20c6868454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bf03e46b5a4f88" /><Relationship Type="http://schemas.openxmlformats.org/officeDocument/2006/relationships/image" Target="/ppt/media/image14.png" Id="R4d75b2567fd6493a" /><Relationship Type="http://schemas.openxmlformats.org/officeDocument/2006/relationships/notesSlide" Target="/ppt/notesSlides/notesSlide19.xml" Id="R67f3b7464f79416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7388703c8e40a7" /><Relationship Type="http://schemas.openxmlformats.org/officeDocument/2006/relationships/image" Target="/ppt/media/image15.png" Id="R571634e6c3904577" /><Relationship Type="http://schemas.openxmlformats.org/officeDocument/2006/relationships/notesSlide" Target="/ppt/notesSlides/notesSlide20.xml" Id="R4ccffd8e45b94d7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1593c05e924550" /><Relationship Type="http://schemas.openxmlformats.org/officeDocument/2006/relationships/notesSlide" Target="/ppt/notesSlides/notesSlide21.xml" Id="R82bcb818087a4ff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845d877bb2497c" /><Relationship Type="http://schemas.openxmlformats.org/officeDocument/2006/relationships/image" Target="/ppt/media/image16.png" Id="R9bae25793a354267" /><Relationship Type="http://schemas.openxmlformats.org/officeDocument/2006/relationships/notesSlide" Target="/ppt/notesSlides/notesSlide22.xml" Id="R0fd927803e864c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0b036608ac4920" /><Relationship Type="http://schemas.openxmlformats.org/officeDocument/2006/relationships/image" Target="/ppt/media/image17.png" Id="R869506afb39942ad" /><Relationship Type="http://schemas.openxmlformats.org/officeDocument/2006/relationships/notesSlide" Target="/ppt/notesSlides/notesSlide23.xml" Id="Rdd765565265f4b6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59de008ae841af" /><Relationship Type="http://schemas.openxmlformats.org/officeDocument/2006/relationships/image" Target="/ppt/media/image18.png" Id="Ra6f63e3d1f5a484f" /><Relationship Type="http://schemas.openxmlformats.org/officeDocument/2006/relationships/notesSlide" Target="/ppt/notesSlides/notesSlide24.xml" Id="R303628f43a12413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c33546e78e45f1" /><Relationship Type="http://schemas.openxmlformats.org/officeDocument/2006/relationships/image" Target="/ppt/media/image19.png" Id="Rc3d7e55c8acf491b" /><Relationship Type="http://schemas.openxmlformats.org/officeDocument/2006/relationships/notesSlide" Target="/ppt/notesSlides/notesSlide25.xml" Id="Rce4d80b31223477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25fed82a0a4f2d" /><Relationship Type="http://schemas.openxmlformats.org/officeDocument/2006/relationships/image" Target="/ppt/media/image20.png" Id="Rf2ea91575795489f" /><Relationship Type="http://schemas.openxmlformats.org/officeDocument/2006/relationships/notesSlide" Target="/ppt/notesSlides/notesSlide26.xml" Id="Rb306c3e31bf2409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c766977d624acb" /><Relationship Type="http://schemas.openxmlformats.org/officeDocument/2006/relationships/notesSlide" Target="/ppt/notesSlides/notesSlide27.xml" Id="R59011342984648b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312e694bcb4fce" /><Relationship Type="http://schemas.openxmlformats.org/officeDocument/2006/relationships/image" Target="/ppt/media/image21.png" Id="R15192e1cbbc843a0" /><Relationship Type="http://schemas.openxmlformats.org/officeDocument/2006/relationships/notesSlide" Target="/ppt/notesSlides/notesSlide28.xml" Id="R7a3060cb047f4ae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afac59f77941f1" /><Relationship Type="http://schemas.openxmlformats.org/officeDocument/2006/relationships/image" Target="/ppt/media/image22.png" Id="R385ae17349b24b46" /><Relationship Type="http://schemas.openxmlformats.org/officeDocument/2006/relationships/notesSlide" Target="/ppt/notesSlides/notesSlide29.xml" Id="R9887c82f476045d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b13829928e46a1" /><Relationship Type="http://schemas.openxmlformats.org/officeDocument/2006/relationships/image" Target="/ppt/media/image23.png" Id="R272542fa7d0b43e1" /><Relationship Type="http://schemas.openxmlformats.org/officeDocument/2006/relationships/notesSlide" Target="/ppt/notesSlides/notesSlide30.xml" Id="Rd2a423e8268845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71DFA3C-C7F2-4D93-8D1E-DD24D198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456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3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FE116CB-DAA3-4423-A0C8-3B541F5D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60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407F71C1-6099-450A-8033-69788E1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960120"/>
            <a:ext cx="566928" cy="566928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272BFDB-F7B4-430C-9169-3931804C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078992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Aft>
                <a:spcPts val="0"/>
              </a:spcAft>
              <a:buNone/>
            </a:pPr>
            <a:r>
              <a:rPr sz="2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705EB5-E2CF-4E37-A900-F5A34087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42415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EMS ARENA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E1ED103-F5B7-4473-94C5-CFF8284A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16736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C7D2FE"/>
                </a:solidFill>
                <a:latin typeface="Helvetica Neue"/>
                <a:ea typeface="Helvetica Neue"/>
                <a:cs typeface="Helvetica Neue"/>
              </a:rPr>
              <a:t>İmtahan İdarəetmə Sistemi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25A99AE-01E3-429B-ACE9-4B7DD762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12848"/>
            <a:ext cx="104241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4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İmtahan İdarəetmə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4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Sistemi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09EF020-B07C-4C10-88C8-01A1600E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913632"/>
            <a:ext cx="137160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9E758DC-7D5C-4C35-BF4E-DF10D7FB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24528"/>
            <a:ext cx="9601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sz="1900" b="0">
                <a:solidFill>
                  <a:srgbClr val="C7D2FE"/>
                </a:solidFill>
                <a:latin typeface="Helvetica Neue"/>
                <a:ea typeface="Helvetica Neue"/>
                <a:cs typeface="Helvetica Neue"/>
              </a:rPr>
              <a:t>İmtahanın yaradılmasından apellyasiyaya qədər — tam elektron imtahan dövrü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3F238E-B036-4997-84DA-24511F4D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74920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Təqdimat</a:t>
            </a: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:  </a:t>
            </a: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Gəncə</a:t>
            </a: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Aqrar</a:t>
            </a: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Universiteti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993671-F6B6-41B2-AF7E-07F1A491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04104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Sistem:  EMS Arena  ·  universitetin öz serverində quraşdırılır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90EBD2F-D795-4CB1-8108-2E78DF6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733288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Bütün ekran görüntüləri işlək sistemdən — demo mühitində çəkilib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C124239-1879-47F3-A4E5-DC5D858E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327648"/>
            <a:ext cx="10424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Hazırladı:  Elvin Qurbanov</a:t>
            </a:r>
          </a:p>
        </p:txBody>
      </p:sp>
    </p:spTree>
    <p:extLst>
      <p:ext uri="{BB962C8B-B14F-4D97-AF65-F5344CB8AC3E}">
        <p14:creationId xmlns:p14="http://schemas.microsoft.com/office/powerpoint/2010/main" val="6233797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46ED69-32AC-4CAB-BD6C-ED0C2A56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FF24ED4-33C0-48F7-80B6-913B3B48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GÜNDƏLIK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1E1787B-58EA-456F-97D8-C5B4E381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Təqdimatın gedişatı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1DEB3E-3EB1-4C28-ABC9-BF094AB7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Sistem imtahanın bütün mərhələlərini əhatə edir — hər mərhələ ayrıca göstəriləcək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A8F8BD8-22F8-43E9-AD6C-C2203C1E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FC9B10B-2E40-413F-9204-02F26A29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4D34610-8CD0-42D2-82C8-D422C443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335889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05DC197-B1A6-4B68-B551-D3B31D21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6D23ECA-C531-460C-BE48-CF4D4812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883664"/>
            <a:ext cx="30845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1 · Sistem və arxitektura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ACB9296-5E96-40A5-864A-5A4BBE4C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21408"/>
            <a:ext cx="3084575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Nə üçün qurulub, hansı texnologiya ilə işləyir, kim nəyi görür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26FD4CD-6C21-4FBF-B898-1E679E52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89504"/>
            <a:ext cx="335889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32FBF97-344F-4486-A99E-5BD2B230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8950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6E4FAC9-A086-4860-BDE5-86AC5C5D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980944"/>
            <a:ext cx="30845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2 · İmtahanın yaradılması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1E1E8B9-C06F-4BCF-9512-5CCCEF3A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18688"/>
            <a:ext cx="3084575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4 addımlı sehrbaz, sual bankı, toplu idxal, çoxdillilik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1A0BFED-6CA3-40F9-B94B-8E3A54DF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86784"/>
            <a:ext cx="335889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6E194D6-E41B-4259-A656-AD5AF88E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8678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5CE9CEF-618F-44A1-8A63-E66B4D50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078224"/>
            <a:ext cx="30845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3 · İmtahan formatları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861D5A3-AF09-4947-9E23-7430042E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315968"/>
            <a:ext cx="3084575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Test · yazılı · praktiki kod × sınaq / kollokvium / final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B48E13C-61D2-48EE-8655-F927F2FB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335889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A386FF9-AEA8-4D27-9F03-7E2A9A43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14FCA99-E1FA-48DA-A68E-DFF2A434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75504"/>
            <a:ext cx="30845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4 · Tələbənin imtahan axını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75C408C-BF16-4364-A889-AD8741AC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413248"/>
            <a:ext cx="3084575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Girişdən nəticəyə: imtahan ekranı, taymer, avtomatik yaddaş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76A9F17D-C947-47D2-AC9D-ACFEDC1D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008" y="1792224"/>
            <a:ext cx="335889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8C5E44E-6B6E-40DB-8818-2CABC33C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008" y="179222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2F4B3BD-333B-4ABD-963D-0F554191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1883664"/>
            <a:ext cx="30845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5 · Final İmtahan Mərkəzi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1928D4D5-F2B8-489F-B33F-958A30E8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2121408"/>
            <a:ext cx="3084575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Zal, sessiya, fərdi PIN, kompüterə bağlanma, nəzarətçi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EF833349-6D3C-4997-9E9D-83C7C280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008" y="2889504"/>
            <a:ext cx="335889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06A7F5A-05E1-4880-A5FD-E44B1005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008" y="288950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9E89608-5B45-4022-A8F1-852C9246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2980944"/>
            <a:ext cx="30845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6 · Canlı nəzarət (proctoring)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5F0B31A-E140-4F78-9844-6D8F0D87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3218688"/>
            <a:ext cx="3084575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Tab dəyişmə, tam ekran, pozuntu siyasəti, müdaxilə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C840C184-3F39-460C-9246-A675C21C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008" y="3986784"/>
            <a:ext cx="335889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2EFCD66-8745-4C4E-96AA-C88E7C4B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008" y="398678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6BB3822-A150-4F6C-BE4C-96A06E10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4078224"/>
            <a:ext cx="30845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7 · Qiymətləndirmə və nəticələr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EC9DA4D-6125-401D-9337-3206E93B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4315968"/>
            <a:ext cx="3084575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Avtomatik + əl ilə yoxlama, elektron jurnala keçid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CCA479C8-E85B-4643-954E-6596E408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008" y="5084064"/>
            <a:ext cx="335889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D237D186-FB26-48EE-B276-EE382F56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008" y="508406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46A7D03F-60AB-421B-949E-99223F4F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5175504"/>
            <a:ext cx="30845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8 · Statistika və hesabatlar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DD71F224-5748-40FE-BE5B-02C9FD79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176" y="5413248"/>
            <a:ext cx="3084575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Müəllim, kafedra və universitet səviyyəsində analitika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5C2EEE0-3B10-455E-90A5-69FB751A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087" y="1792224"/>
            <a:ext cx="335889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A647591B-C564-4694-9892-85A374A1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087" y="179222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A6B9D0D0-B6B3-4B7C-AB67-E8363280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256" y="1883664"/>
            <a:ext cx="30845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9 · Apellyasiya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6217CA8-3EC0-48F2-BF45-84D39A00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256" y="2121408"/>
            <a:ext cx="3084575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3 günlük pəncərə, sual-üzrə müraciət, auditli bal düzəlişi</a:t>
            </a:r>
          </a:p>
        </p:txBody>
      </p:sp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818EC64B-EB1A-485F-939E-642A0FE9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087" y="2889504"/>
            <a:ext cx="335889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24C2333C-35EC-4403-ABCE-5AB47B55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087" y="288950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865F5326-2C1A-4E2B-8828-51D6C058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256" y="2980944"/>
            <a:ext cx="30845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10 · Təhlükəsizlik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04DF28F-D11C-43A9-B3EB-393E8BB6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256" y="3218688"/>
            <a:ext cx="3084575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6 müstəqil qorunma təbəqəsi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563E1C94-48EA-4DF8-8ED4-1ACAE4A0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087" y="3986784"/>
            <a:ext cx="335889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55CC290A-E4F5-4582-8E55-A4A849A9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087" y="398678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30C0B49D-9D18-4BE7-B1BA-4B996855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256" y="4078224"/>
            <a:ext cx="30845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11 · Server tutumu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35D2310D-C112-459D-B436-26CA615F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256" y="4315968"/>
            <a:ext cx="3084575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Neçə tələbə eyni anda? — ölçülmüş yük testi nəticələri</a:t>
            </a:r>
          </a:p>
        </p:txBody>
      </p:sp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03B782AD-97D0-45F8-A5FC-ADF05885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087" y="5084064"/>
            <a:ext cx="335889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A256EA5A-4A1A-46C6-B2EE-E238C5A1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087" y="508406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AAAE7A62-70CD-4F3D-86F0-05452101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256" y="5175504"/>
            <a:ext cx="30845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12 · Tətbiq və yol xəritəsi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699DAE8-5F91-43F8-8955-E22A0CB7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256" y="5413248"/>
            <a:ext cx="3084575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Quraşdırma modeli, aqrar universitetə uyğunluq, hədlər</a:t>
            </a:r>
          </a:p>
        </p:txBody>
      </p:sp>
    </p:spTree>
    <p:extLst>
      <p:ext uri="{BB962C8B-B14F-4D97-AF65-F5344CB8AC3E}">
        <p14:creationId xmlns:p14="http://schemas.microsoft.com/office/powerpoint/2010/main" val="5368718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26423A9-C737-4F90-8BAC-0A90FBC1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8E30DB2-0AE2-43D2-BB76-58DB246B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BIR BAXIŞDA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89A131-C0D9-42F1-95E1-7365E63F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Sistem nəyi əhatə edir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D02343-ADC3-4870-98F2-B880E983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Rəqəmlər işlək koddan və ölçülmüş yük testi nəticələrindən götürülüb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EA31CCA-CE48-4014-9F2A-3855B597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E310581-7D55-449F-AFD0-B9AAFB14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463A764-E828-42EF-B538-E3A9163E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28800"/>
            <a:ext cx="2491740" cy="175564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BEE9D21-2D98-4300-BF93-4890F1C3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956816"/>
            <a:ext cx="21259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3 × 5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B6F357C-6876-4E04-BD9F-DC02C4DE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560320"/>
            <a:ext cx="21259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format × kateqoriya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6A7C7A9-FF87-41AF-95B7-B49B60F9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98064"/>
            <a:ext cx="2125980" cy="7498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Test / yazılı / praktiki kod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× sınaq, kollokvium, final,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yerləşdirmə, məşq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31EF7FD-FA65-42BA-B03B-C539F5A2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88" y="1828800"/>
            <a:ext cx="2491740" cy="175564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96F697C-733A-4745-B42D-C25080C0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156" y="1956816"/>
            <a:ext cx="21259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F3A824A-3B87-4619-8620-43493981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156" y="2560320"/>
            <a:ext cx="21259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hazır rol şablonu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CE212A8-5FDF-428E-B26D-02E7AA73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156" y="2798064"/>
            <a:ext cx="2125980" cy="7498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Rektordan tələbəyə qədər,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fakültə–kafedra–ixtisas–qrup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səviyyəli əhatə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B412AD2-A97E-441E-B8F3-A4E2F26F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1828800"/>
            <a:ext cx="2491740" cy="175564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D4D0228-AD44-493D-81EE-874E632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1956816"/>
            <a:ext cx="21259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6B3E764-91F2-4075-94B8-33A06FDD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560320"/>
            <a:ext cx="21259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imtahan dili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F3323E9-43F7-49CF-8D61-54963B16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798064"/>
            <a:ext cx="2125980" cy="7498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AZ · EN · RU · TR —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bir imtahan, paralel dil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variantları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BC024E48-E7C8-45C0-8F33-F4A9FA84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5107" y="1828800"/>
            <a:ext cx="2491740" cy="175564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AE57252-36E6-4D71-8DE6-C0A1FE6D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276" y="1956816"/>
            <a:ext cx="21259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97CB6A7-462B-4C35-A524-B6887024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276" y="2560320"/>
            <a:ext cx="21259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apellyasiya səbəb tipi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7B931C0-27B8-484D-9702-4F875375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276" y="2798064"/>
            <a:ext cx="2125980" cy="7498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Hər sual üçün ayrıca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müraciət və ayrıca qərar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1AD37EE-4413-4CA8-9C52-03F0589E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85616"/>
            <a:ext cx="2491740" cy="175564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B3F369F-773A-4C40-A389-63872348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913632"/>
            <a:ext cx="21259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500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90B9AC9-E543-4D59-BA65-AB515099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517136"/>
            <a:ext cx="21259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eyni-anlı tələbə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14958B9-726E-4218-8DDC-99598192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754880"/>
            <a:ext cx="2125980" cy="7498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Tam imtahan axınında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sübutlu — 0% HTTP xətası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6F29FFDB-BFD0-4603-94B0-7026C041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88" y="3785616"/>
            <a:ext cx="2491740" cy="175564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84C57DD-8AD7-48E0-BCBE-6A5083DC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156" y="3913632"/>
            <a:ext cx="21259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0.00%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9C45549-B3C1-4426-B37D-F465A72D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156" y="4517136"/>
            <a:ext cx="21259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məlumat itkisi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9E8E419B-9753-4749-8BE1-42566F0B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156" y="4754880"/>
            <a:ext cx="2125980" cy="7498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200 eyni-anlı tələbə testində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1325 yazının hamısı qeydə alındı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BD52BDAD-55ED-40CB-9789-C8DB2B8D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3785616"/>
            <a:ext cx="2491740" cy="175564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63E31BF-6F5D-4785-B8DA-922A79B3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3913632"/>
            <a:ext cx="21259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10 094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CC489CA3-3332-4932-9271-B4373A2A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4517136"/>
            <a:ext cx="21259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sorğu / saniyə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950E19B-83F2-4A5E-9AF0-3E412C7B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4754880"/>
            <a:ext cx="2125980" cy="7498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10 000 virtual istifadəçi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altında ölçülmüş ötürmə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6AA69D2B-AEE4-425B-9662-29C673AF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5107" y="3785616"/>
            <a:ext cx="2491740" cy="175564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BB3B78A3-76AC-4166-A1D0-152FE3D7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276" y="3913632"/>
            <a:ext cx="21259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0C4A8E4-444D-478E-BC60-F630A0A2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276" y="4517136"/>
            <a:ext cx="21259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təhlükəsizlik təbəqəsi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F9B76B1-664B-4BF8-88BA-594EAD6F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276" y="4754880"/>
            <a:ext cx="2125980" cy="7498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Şəbəkədən bal düzəlişinin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auditinə qədər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941BEC61-3075-4D53-9F4A-4499017F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870448"/>
            <a:ext cx="1106424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1B3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E0AA056C-984D-4818-8BC6-23FD4233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989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Bütün rəqəmlər bu təqdimatda mənbəyi ilə birlikdə göstərilir. Ölçülməmiş dəyərlər açıq şəkildə «hesablanmış təxmin» kimi işarələnib.</a:t>
            </a:r>
          </a:p>
        </p:txBody>
      </p:sp>
    </p:spTree>
    <p:extLst>
      <p:ext uri="{BB962C8B-B14F-4D97-AF65-F5344CB8AC3E}">
        <p14:creationId xmlns:p14="http://schemas.microsoft.com/office/powerpoint/2010/main" val="13693882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F108D80-1530-4466-84C8-3CE52EED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624EBF-C374-44BD-9361-0B54D3A2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ARXITEKTURA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D59011A-B914-480C-8993-C11615FE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Texnoloji quruluş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D109E89-7FFE-4FA0-BE38-6B0041CC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Sistem universitetin daxili şəbəkəsində (on-premise) işləyir — məlumat kampusdan çıxmır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AD72D1B-922B-433F-B385-D72DC2CC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5ED479E-1931-42A3-9EB6-231C77B4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6CAFB10-309A-4C92-B31F-03DC0577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184" y="1705356"/>
            <a:ext cx="8031728" cy="4224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2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a62d218de40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5188" y="1737360"/>
            <a:ext cx="7967720" cy="4160520"/>
          </a:xfrm>
          <a:prstGeom xmlns:a="http://schemas.openxmlformats.org/drawingml/2006/main" prst="rect">
            <a:avLst/>
          </a:prstGeom>
        </p:spPr>
      </p:pic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D734680-6492-474D-AD86-3E7ECF9D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1888"/>
            <a:ext cx="11064240" cy="38404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15009B6-3710-4C0C-8EC4-77533F3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53328"/>
            <a:ext cx="10698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12 tətbiq replikası · hər biri 12 paralel iş sapı · pgbouncer hovuzu 200 bağlantı · Redis 3 GB · avtomatik şifrələnmiş yedəkləmə</a:t>
            </a:r>
          </a:p>
        </p:txBody>
      </p:sp>
    </p:spTree>
    <p:extLst>
      <p:ext uri="{BB962C8B-B14F-4D97-AF65-F5344CB8AC3E}">
        <p14:creationId xmlns:p14="http://schemas.microsoft.com/office/powerpoint/2010/main" val="3269149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2A85DB5-6DC3-4E09-BF19-8027F05F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573400B-33FD-4C2F-97B3-1F223F49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ROLLAR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FD6DDB4-8557-4B18-9000-014557ED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Kim nəyi görür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E62B12-DC36-4255-BB2A-9BB967BD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İcazə iki oxdan ibarətdir: ROL (nə edə bilər) və SCOPE (harada edə bilər — fakültə / kafedra / ixtisas / qrup)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576E8B4-9C67-47FF-AEA8-ACC43649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568213A-6476-47D7-8406-B97DBF90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4945744-8113-42BF-82F3-60E10C28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202936" cy="797356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A7A8064-6EBA-4FBD-8B55-C2531E66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797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870BFF6-DF9F-483D-A595-9322B55F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88366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Rektor · Prorektor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964DF2B-0F25-4FF3-9B3F-02E92C59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21408"/>
            <a:ext cx="4928616" cy="413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08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Bütün universitet üzrə analitika və nəzarət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1AA6EC8-87D6-4AA4-BA6C-9D12D906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17596"/>
            <a:ext cx="5202936" cy="797356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501B4E3-4C43-4951-BFC9-485286CE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17596"/>
            <a:ext cx="50292" cy="797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E6CEB58-7B16-43DA-A421-EF42A68A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809036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İKT rəhbəri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BC8A113-ABE0-486C-BB91-D5459DEF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046780"/>
            <a:ext cx="4928616" cy="413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08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Kilidləri auditli düzəliş axını ilə keçmə səlahiyyəti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FC4CF156-BCEA-4E3F-8D70-B23285C4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42969"/>
            <a:ext cx="5202936" cy="797356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13006CD-F0AF-46B7-8F9E-02C627C6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42969"/>
            <a:ext cx="50292" cy="797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1F82B04-D91A-4996-976A-54AE4C4E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734409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İmtahan Mərkəzi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B5DD200-9BBA-4172-9A4E-56DBC058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972153"/>
            <a:ext cx="4928616" cy="413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08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Final və kollokvium yaradır, zal/sessiya idarə edir, apellyasiyaya qərar verir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5EF336AB-6E97-46BB-85B7-AE25057C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68342"/>
            <a:ext cx="5202936" cy="797356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E206EBC-DBD0-4950-9C95-3DF23A5C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68342"/>
            <a:ext cx="50292" cy="797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FFF0E1B-2470-455A-8F42-55964756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659782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Dekan · Kafedra müdiri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67DBB1E-8FA9-44F4-8A2F-4AA1CE84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897526"/>
            <a:ext cx="4928616" cy="413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08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Öz fakültə/kafedra alt-ağacı üzrə imtahan və nəticə görünüşü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A0A753FD-3BE0-4717-A860-02F81E34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93715"/>
            <a:ext cx="5202936" cy="797356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8214DCE-5CE7-409F-B6FC-921282E6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93715"/>
            <a:ext cx="50292" cy="797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21FEE6B-603A-4493-8BD3-06635D63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585155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Müəllim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0C3E60E-5879-4E8A-8FD0-D4A5162F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822899"/>
            <a:ext cx="4928616" cy="413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08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Öz fənləri üzrə imtahan yaradır, sual bankı, yoxlama, statistika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C69BB9AA-53AA-4FE6-84AE-CBBD176C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1792224"/>
            <a:ext cx="5202936" cy="797356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9EF4A54-B54B-4F0C-9FE0-8A4381E9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1792224"/>
            <a:ext cx="50292" cy="797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43C22E8F-FF26-47DC-BF7E-4C461C2B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188366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Assistent · Laborant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6F8B6340-6FC8-4CEE-8B34-1690FFBE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121408"/>
            <a:ext cx="4928616" cy="413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08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Kurs səviyyəsində köməkçi əməliyyatlar, laboratoriya işləri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D1B6F176-7198-49D8-AB4D-DEF31E1E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2717596"/>
            <a:ext cx="5202936" cy="797356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E5C0930E-D8DC-41CF-A627-8BE66386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2717596"/>
            <a:ext cx="50292" cy="797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C1477F7-82F5-43CD-B1E2-463A1685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809036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Nəzarətçi (invigilator)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9FA1AF69-5019-434F-BEAD-2F8F1B3D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3046780"/>
            <a:ext cx="4928616" cy="413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08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Zalda sessiyanı başladır/bitirir, canlı monitor, müdaxilə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3DE42DF6-40B9-457F-8567-ABDE8D54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3642969"/>
            <a:ext cx="5202936" cy="797356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1C66CE63-D0C6-45A4-A034-6160A864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3642969"/>
            <a:ext cx="50292" cy="797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C745C9E-E314-4B27-8416-51800C2B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3734409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Tyutor · Proqram koordinatoru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93E5746-811E-425A-BF62-0A57CC45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3972153"/>
            <a:ext cx="4928616" cy="413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08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Qrup və ixtisas səviyyəsində izləmə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1B4AACA4-E44C-42D0-82F3-4F675678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4568342"/>
            <a:ext cx="5202936" cy="797356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2ECEBF43-A510-4C12-B535-B3999291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4568342"/>
            <a:ext cx="50292" cy="797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ACD5EA9-94AB-4ADE-9AD6-CE0086C3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4659782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Tələbə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ED25BE5A-DB97-4309-A011-C14880AF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4897526"/>
            <a:ext cx="4928616" cy="413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08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Öz imtahanları, nəticələri, apellyasiyaları, transkripti</a:t>
            </a:r>
          </a:p>
        </p:txBody>
      </p:sp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96022B87-FF9B-49F0-A287-9DA172E5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5493715"/>
            <a:ext cx="5202936" cy="797356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63524212-3A7B-4BA6-A6A0-5C050C6F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5493715"/>
            <a:ext cx="50292" cy="797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24D8DA96-C2BF-4A04-8078-490ACA3A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5585155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Vacib qayda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C40E7B41-36F5-4648-B104-4DD814D7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5822899"/>
            <a:ext cx="4928616" cy="413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08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Rol yalnız AKTİV üzvlük vasitəsilə işləyir — üzvlük bağlananda çıxış dərhal kəsilir</a:t>
            </a:r>
          </a:p>
        </p:txBody>
      </p:sp>
    </p:spTree>
    <p:extLst>
      <p:ext uri="{BB962C8B-B14F-4D97-AF65-F5344CB8AC3E}">
        <p14:creationId xmlns:p14="http://schemas.microsoft.com/office/powerpoint/2010/main" val="15004939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29F0510-1948-467F-A6CE-56FE36D5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13F1FB8-E66A-4F9A-90DE-EB685CA3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HƏYAT DÖVRÜ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39E3DC9-C724-4AA9-81D1-EF1B916E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İmtahanın həyat dövrü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9CF2305-8DE5-440D-AAB9-B8429793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Status bazada saxlanmır — imtahanın öz məlumatlarından hesablanır, ona görə heç vaxt həqiqətdən ayrılmır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AC927AA-35EC-4D7B-B674-63CEA1FE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E3983FF-17FD-4735-A936-625136CE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67A5A52-6AF8-4E5B-AB6B-71E73FC9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79" y="1705356"/>
            <a:ext cx="11010138" cy="4224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2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4b71ce2eb4e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5983" y="1737360"/>
            <a:ext cx="10946130" cy="4160520"/>
          </a:xfrm>
          <a:prstGeom xmlns:a="http://schemas.openxmlformats.org/drawingml/2006/main" prst="rect">
            <a:avLst/>
          </a:prstGeom>
        </p:spPr>
      </p:pic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10B99C4-36BA-4997-BC11-C8918A48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1888"/>
            <a:ext cx="11064240" cy="38404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40CF21A-5BF3-4F12-A630-725946B8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53328"/>
            <a:ext cx="10698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Dərc qapısı: imtahan ən azı bir aktiv sual olmadan tələbələrə AÇILMIR — «boş imtahan» səhvi mümkün deyil</a:t>
            </a:r>
          </a:p>
        </p:txBody>
      </p:sp>
    </p:spTree>
    <p:extLst>
      <p:ext uri="{BB962C8B-B14F-4D97-AF65-F5344CB8AC3E}">
        <p14:creationId xmlns:p14="http://schemas.microsoft.com/office/powerpoint/2010/main" val="8626399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870594-B04C-4AEB-B450-B52559B1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153C9B1-19A7-4E16-B1E4-9BEE1E69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MÜƏLLIM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9841350-0EF2-4390-9A8B-97CBE850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Müəllim kabineti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085DE22-5589-4AC1-8E17-82F4116C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Bir giriş — rola görə açılan vahid kabinet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A82C888-1406-4DA2-B68F-AD2BCA80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EDABF6E-1732-472C-9DC7-05B796E9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A78F66F-9CBF-4882-80A2-6A34F378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628" y="1724594"/>
            <a:ext cx="7781544" cy="456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4326f0f7c45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3632" y="1756598"/>
            <a:ext cx="7717536" cy="44969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5356D46-5875-420A-8ADB-18CB6F83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C646A5C-4EC6-4E76-A8E9-34749BCD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Vahid kabinet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3B7DFF2-A386-4CAF-8322-B85D4538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Müəllim, tələbə, dekan, imtahan mərkəzi — hamı eyni ünvandan girir, öz bölmələrini görür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64BF838-014E-42D5-8E3F-14E243FB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75788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2164197-2C2A-4407-B701-FBAF6F2B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857500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Sol menyu bölmələri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5D127BA-1BED-40E9-B962-2AECEA69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159252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Statistika, İmtahanlarım, İmtahan Nəzarət Sistemi, Sual Bankı, Sual göndərişləri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B57AF1A-0CF8-40BE-98B8-B31852BB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59352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5964594-0952-42BA-B4E9-51D543AA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941064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Universitet bloku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22DC897-6EED-4015-BB08-6CC30755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242816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Dərs cədvəli, akademik təqvim, elektron jurnal — imtahan təcrid olunmuş modul deyil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3CD2E2D-344E-4861-81DB-F3085BBB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4291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FF74693-93B8-4C8D-8882-66540DD1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02462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Dil dəyişikliyi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E029E53-7A0E-4391-BFE8-48827BE8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326380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İnterfeys 4 dildə: Azərbaycan, İngilis, Rus, Türk</a:t>
            </a:r>
          </a:p>
        </p:txBody>
      </p:sp>
    </p:spTree>
    <p:extLst>
      <p:ext uri="{BB962C8B-B14F-4D97-AF65-F5344CB8AC3E}">
        <p14:creationId xmlns:p14="http://schemas.microsoft.com/office/powerpoint/2010/main" val="8663538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366FFE0-AFA4-4BFC-9EA4-6FBFF797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4A3A2EC-E5A7-40F9-A284-ECFA3001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MÜƏLLIM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C22E365-E833-45F5-9F5F-078D9D41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İmtahanlarım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BBE9F5D-3557-4C37-AC85-B23D2CC5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Status üzrə qruplaşdırılmış siyahı — aktiv, planlaşdırılmış, qaralama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1FD349-C74A-40DA-9A6F-C3F67AB4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88B6796-D1D3-405E-9CA2-37DC162E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F98A1FA-5EFC-4EDC-B9D1-F01ADE51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628" y="1724594"/>
            <a:ext cx="7781544" cy="456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53795e3864a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3632" y="1756598"/>
            <a:ext cx="7717536" cy="44969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1E672D3-76B8-4B0A-87FC-A8039E3B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A352CF7-F234-43B1-8413-EA8EF17A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Status sayğacları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552884C-DE53-4A9C-9E4D-C5A94F6F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Yuxarıda hər statusun sayı; kartda tarix, sual sayı, müddət, cəhd limiti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B2D013-E423-4393-99E8-E4B8115C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2E26BD3-E901-4DD9-8EA6-32CD610E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7004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Filtr və kateqoriya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4332DED-CE4E-4A95-833E-BD9BC3E4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71800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Növ (test/yazılı/praktiki) və kateqoriya (final/kollokvium/sınaq) çipləri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4C53CB3-C701-4AF1-A425-928E1904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71900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B58F941-0A5C-471A-BFEE-80B0902E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753612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Zibil qutusu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6195BB3-1C46-428E-871B-2E0AF701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055364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Silinən imtahan itmir — nəticələri ilə birlikdə bərpa oluna bilir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9D68837-BF79-4480-8ADA-F54DA829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68012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322B82E-1167-47C3-8D65-749D52F0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649724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Kart üzərindən əməliyyat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19CB56E-BAC4-4203-84C9-32DA0418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951476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Nəticələr, statistika, redaktə, dublikat, qruplara açma</a:t>
            </a:r>
          </a:p>
        </p:txBody>
      </p:sp>
    </p:spTree>
    <p:extLst>
      <p:ext uri="{BB962C8B-B14F-4D97-AF65-F5344CB8AC3E}">
        <p14:creationId xmlns:p14="http://schemas.microsoft.com/office/powerpoint/2010/main" val="5921682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BA8CC5-8C71-462D-BF23-3EC8F90A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C90FA8B-9DF9-4A19-9756-308FDE37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YENI IMTAHAN YARAT — 4 ADDIMLI SEHRBAZ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5F2A2C-2333-49D6-87B4-AB3C04F6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Addım 1 — Əsaslar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A3A6E4A-1008-4DF9-8364-605768AD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Ad, izah, imtahan tipi, kateqoriya və fənn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A234A42-B99D-4625-8CB0-9B031B25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73383CF-017E-4073-97E1-00925B9A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0430764-2F2D-4843-A3B6-1CB842A7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890" y="1723644"/>
            <a:ext cx="7085019" cy="4562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04e65fce747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1894" y="1755648"/>
            <a:ext cx="7021011" cy="44988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C06DBED-C1AB-43A9-9C9C-311F8D48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1D0B549-B896-4503-B463-C7962C9F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İmtahan tipi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B1C4BC3-3E56-466A-A309-7675B3EC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Test (avtomatik ballanan) · Yazılı (əl ilə yoxlanan) · Praktiki kod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46E8E6C-FC55-4067-A0C7-3B1A7BDA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9BA4136-6FB2-4A37-BE78-2110C46D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7004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Kateqoriya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1CD74D4-D81F-4858-8334-D4F1BFA9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71800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Sınaq / Kollokvium / Final. Final və kollokviumu YALNIZ İmtahan Mərkəzi yarada bilər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484E244-7819-4C42-ACAC-E4970C3F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71900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EC40CC6-A4FD-4DBC-BBDA-B61F09D9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753612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Fənn bağlantısı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12043F4-07FD-4615-B26B-88E8D4F4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055364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Fənn axtarışlı siyahıdan seçilir — nəticə birbaşa elektron jurnala bağlanır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7416167-48BE-4840-BF92-A748E53E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5546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9012D2A-D63B-4C1D-80AD-A9421E01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83717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Yalnız ad məcburidir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2C6A735-894C-49D5-8E9F-72FE1D16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138928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Qalanı sonra redaktədən doldurula bilər — müəllim işini yarımçıq saxlaya bilir</a:t>
            </a:r>
          </a:p>
        </p:txBody>
      </p:sp>
    </p:spTree>
    <p:extLst>
      <p:ext uri="{BB962C8B-B14F-4D97-AF65-F5344CB8AC3E}">
        <p14:creationId xmlns:p14="http://schemas.microsoft.com/office/powerpoint/2010/main" val="3454776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0FCF1C3-F587-47EB-8B6B-986CD927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E3CBE54-141E-4F0B-9BDA-FA3E19D0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YENI IMTAHAN YARAT — 4 ADDIMLI SEHRBAZ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C88FF80-04B5-4298-A397-A47807EF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Addım 2 — Vaxt və suallar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E3B0640-2BF4-4293-BD35-4DF2884E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Cədvəl, müddət, sual sayı və paylanma qaydaları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92F571-DE1A-4659-8DFE-A65E187C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0F288DF-0BF2-41B0-98F3-908C9D1B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D456DC2-6CE3-4ABD-A635-D780170C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890" y="1723644"/>
            <a:ext cx="7085019" cy="4562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1a2e7eeb642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1894" y="1755648"/>
            <a:ext cx="7021011" cy="44988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846DF26-6E72-46F9-B15E-A49CF7CB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BD5CDB5-3548-4A4D-8959-B4C93925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Cədvəl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BACFA85-637D-4D44-96E9-9033EE48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Başlama və bitmə tarixi/saatı — imtahan yalnız bu pəncərədə açılır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9E014CC-B0AE-403A-923E-BE848801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BA5F1D2-646D-461C-88FA-CD955FDF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7004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İki səviyyəli taymer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1AAEFC1-A037-407F-8465-64BC5751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71800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Ümumi imtahan müddəti + istəyə görə hər sual üçün ayrıca vaxt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A6D26FA-98C5-474D-AC03-FD2D38F8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5A92015-EB23-4272-8816-614261E5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566160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Tələbəyə düşən sual sayı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CA8548C-1B30-4F64-BADF-016739C8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6791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Bankdan təsadüfi seçim — hər tələbəyə fərqli variant düşür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9BEA71A-30D4-405B-9342-F076D710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80560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DBF4FEA-4D56-45C7-A67A-52935C04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462272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Sual təkrarını azalt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7927EF9-AA2B-4CE9-AAFA-6E61B90B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764024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Sistem sualları tələbələr arasında bərabər paylayır (default açıq)</a:t>
            </a:r>
          </a:p>
        </p:txBody>
      </p:sp>
    </p:spTree>
    <p:extLst>
      <p:ext uri="{BB962C8B-B14F-4D97-AF65-F5344CB8AC3E}">
        <p14:creationId xmlns:p14="http://schemas.microsoft.com/office/powerpoint/2010/main" val="17737059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28C862-EE6C-41A5-AE5D-C705A7F1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3B7240E-28BB-4F74-8DF1-6A879248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YENI IMTAHAN YARAT — 4 ADDIMLI SEHRBAZ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FADDBE4-C8ED-44C7-9D12-C2A36E9B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Addım 3 — Giriş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60A85DE-1CFC-4B51-BCE4-C40D691D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İmtahanı kim görəcək və kim girə biləcək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D6374CA-1891-4DDC-984F-5DE2EB6D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49E905E-3B0B-49C0-92D4-B16EE4C8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6AFE3ED-FD4C-40BE-A2EC-7F1BB8EC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890" y="1723644"/>
            <a:ext cx="7085019" cy="4562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1ebfc9c5248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1894" y="1755648"/>
            <a:ext cx="7021011" cy="44988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C1B5D2F-C8EA-4578-B498-A6508463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0CF0827-959D-4EA3-AF93-B0C7CB8E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Qrup əsaslı icazə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8D5322F-B4A6-450B-853C-F6085F39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Bir və ya bir neçə tələbə qrupu seçilir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9E22AB7-3350-4D66-B472-F0AE8CC8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DC453C-490D-4FA1-97BC-AC388CA7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7004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Fərdi icazə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2419534-0891-4FEA-A9ED-00CC4E94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71800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Ayrıca tələbələr əlavə edilə, seçilmiş qrupdan ayrı-ayrı tələbələr istisna edilə bilər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2981A33-F50C-4763-B238-AB5A73F8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71900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630FADD-7547-4CD8-8531-DF486E1F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753612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Cəhd limiti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31A5B29-FE86-40B3-89F4-6EBE0E6C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055364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Bir tələbə üçün maksimum cəhd sayı; İmtahan Mərkəzi sonradan fərdi əlavə şans verə bilir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E378DE7-F3F9-465C-9D42-4AA7052B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5546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F926EE4-9545-4EEB-AFB4-77249811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83717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Rəsm cavabı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5F0EB22-78BB-44D8-A549-9DF76FC3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13892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Yazılı imtahanlarda tələbə kətan üzərində sxem/qrafik çəkə bilər</a:t>
            </a:r>
          </a:p>
        </p:txBody>
      </p:sp>
    </p:spTree>
    <p:extLst>
      <p:ext uri="{BB962C8B-B14F-4D97-AF65-F5344CB8AC3E}">
        <p14:creationId xmlns:p14="http://schemas.microsoft.com/office/powerpoint/2010/main" val="81594793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486284-AE84-459D-866B-53E081A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49177B-F689-4BB3-8FC7-C4EC9952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YENI IMTAHAN YARAT — 4 ADDIMLI SEHRBAZ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BBFCDEE-BB90-4917-92FD-04B3BE45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Addım 4 — Nəzarət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81A9924-011F-446A-B002-C9045830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Köçürməyə qarşı qorunma — hazır şablon və ya fərdi ayar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996561-0951-4523-8DC9-0F50DD1C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B7E9B7C-D1EF-4F11-8B67-C55DAC1F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0FDDCBB-8FA7-4E09-A988-1544ED99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890" y="1723644"/>
            <a:ext cx="7085019" cy="4562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e2de73e774b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1894" y="1755648"/>
            <a:ext cx="7021011" cy="44988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A36A7C7-02CB-4B20-9D60-5A5B164F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836805E-7C22-47DB-99D5-96E857EB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3 hazır şablon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8D04EAF-DCD1-475C-A24C-C2C20301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Yüngül · Orta · Ciddi — bir kliklə tam nəzarət paketi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D990099-8CC8-4A74-B37D-1263DA2B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7A7FAB1-BBD0-41E2-A62C-C0C616F9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7004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İzlənən hadisələr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7A74F49-3C09-45A2-8798-9D311AAD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71800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Tam ekrandan çıxma, tab dəyişmə, pəncərə fokusunun itməsi, kopyala/yapışdır, sağ klik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26EBF17-3D32-4446-8F13-82B8DB9C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71900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6D0C6B-E28B-461F-854E-3DB79155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753612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Avtomatik reaksiya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84AC92B-4D6E-42A7-B454-24710187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055364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Limit aşılanda: kilidlə · avtomatik təhvil · tələbəni çıxar · şübhəli işarələ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6CC20BE-2743-44D0-BC49-42CD63DE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5546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74BC7B3-94A4-4FCF-8F76-CA852A72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83717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Bərpa siyasəti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813ECB9-72E3-4773-B4A0-D94D0822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13892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İkinci şans yoxdur / bir əlavə şans / müəllim tərəfindən idarə olunan</a:t>
            </a:r>
          </a:p>
        </p:txBody>
      </p:sp>
    </p:spTree>
    <p:extLst>
      <p:ext uri="{BB962C8B-B14F-4D97-AF65-F5344CB8AC3E}">
        <p14:creationId xmlns:p14="http://schemas.microsoft.com/office/powerpoint/2010/main" val="21068689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B8A4AC5-9FBC-4CAE-BE28-3F409202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CBF4E27-AE2C-49FB-9A35-8FCAF2BB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MÜƏLLIM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BB8D47A-FA32-4B18-A4BC-6C4AB0A3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İmtahan detalı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910ADF1-2DD8-492C-B071-45F210A4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İmtahanın idarə mərkəzi — bütün əməliyyatlar bir ekranda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837A8E-D0E5-4906-ACFB-D6AA8308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0F9C1CD-A554-44F1-9C9B-81687A30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DC9C5EC-842B-464D-968A-DFFC303F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628" y="1724594"/>
            <a:ext cx="7781544" cy="456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45a882dd644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3632" y="1756598"/>
            <a:ext cx="7717536" cy="44969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A979E05-714F-4D8B-A6E9-BC9B0479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5A9AE6B-BA0D-418E-AB3B-64133121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Vəziyyət kartları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BAC640F-E9B7-4817-BC4B-60A0CD0C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Növ, status, müddət, sual vaxtı, cəhd sayı, nəticə görünüşü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6DA90FC-AC0E-4EF8-8AE1-99E2A42C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949E5F4-FC9F-4391-8545-3E13F750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7004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Sual idarəetməsi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89A085F-AE99-46DB-8485-493FA1E0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71800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Əlavə et, bankdan seç, toplu idxal, sıra dəyiş, dil variantları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73EADC8-4950-4560-8FDE-715F56AB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2F3D75D-5333-47BB-99EB-AC952AB1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566160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Nəticə əməliyyatları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B8B4D52-8080-44FD-A8F9-526E141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6791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Nəticələr, statistika, Excel ixracı, nəticələrin tələbədən gizlədilməsi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C0CB02A-FC49-490F-ADD3-734403C9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80560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1AC88CF-FC2B-459A-A315-7ED3FB5C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462272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Sınaq keçidi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BEBD598-0847-482E-B0BB-D920759D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764024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Müəllim öz imtahanını tələbə gözü ilə keçə bilir — bu cəhd statistikaya düşmür</a:t>
            </a:r>
          </a:p>
        </p:txBody>
      </p:sp>
    </p:spTree>
    <p:extLst>
      <p:ext uri="{BB962C8B-B14F-4D97-AF65-F5344CB8AC3E}">
        <p14:creationId xmlns:p14="http://schemas.microsoft.com/office/powerpoint/2010/main" val="18033821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0B925A-C190-4E39-AB84-1EC6E86B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A02995C-6C72-4286-880F-9057151D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SUALLAR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1305D5A-36E9-4751-B59A-55B0CBF1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Suallar imtahana 3 yolla əlavə olunur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9F47A60-DFD9-4808-BDD3-7A986552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Hər üç yol eyni nəticəyə gətirir — seçim müəllimin əlindəki materialdan asılıdır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717B34E-AE2F-4215-B5E2-80C4B261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E9520AB-83DE-4EA6-B7DE-915EA2E8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F5AFEEA-FE77-4E6B-955C-7F017916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20293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591EEF2-F471-4714-921B-20C40C79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0E4A601-56CA-4723-8884-172A7CE4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88366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1 · Tək-tək yazmaqla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E3B237-F05C-4044-B89D-119A420A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21408"/>
            <a:ext cx="49286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Modal formada sual mətni, variantlar, düz cavab(lar), çətinlik, bal, şəkil/video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D25BAA5-E687-4BE9-974C-95D99BB9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89504"/>
            <a:ext cx="520293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6BBF65C-B170-4BE7-98D3-8DF14C16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8950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95B054D-A875-4BF2-8793-784821C2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98094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2 · Sual bankından seçməklə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8FF219A-E279-4A91-A184-D5EFED6C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18688"/>
            <a:ext cx="49286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Kitabxanadakı hazır suallar imtahana surət (snapshot) kimi köçürülür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0C745C9-AF0E-40BB-B2D4-AE31EEF6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86784"/>
            <a:ext cx="520293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197A88A-3297-4A55-9D78-4EB1D4A5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8678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A9E94FB-273C-48C6-B178-15911155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07822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3 · Toplu idxalla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5954C81-D60E-440A-92D0-59F62BDB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315968"/>
            <a:ext cx="49286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PDF / TXT / PNG / JPG faylı yüklənir, sistem sualları özü tanıyır və siyahılayır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8F83A793-E4C4-496C-8974-5A560176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520293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5866F30-0361-4DB4-87F8-36BCAB40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F9BD958-C10B-4355-922B-DF8621D8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7550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Snapshot prinsipi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E023057-C5D7-46FB-97BD-73387F03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413248"/>
            <a:ext cx="49286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Bankdakı sual sonradan redaktə olunsa belə, keçmiş imtahanların nəticəsi dəyişmir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10CEEB94-AE34-4EEE-8100-485A404D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1792224"/>
            <a:ext cx="520293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96213C11-0804-4119-A634-17F97146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179222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B757E79-929C-4E5A-B09B-5C8EC484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188366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Test sualı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833010D-AB5C-41D4-B756-9CD7B586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121408"/>
            <a:ext cx="49286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Tək düz cavablı və ya çox düz cavablı (çoxseçimli) — sistem cavab sayına görə özü təyin edir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5D95CB25-17FC-47F9-98FA-8562D2D6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2889504"/>
            <a:ext cx="520293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D89D6FD-B4ED-422A-84F5-BD653618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288950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7EE99DE-B370-4638-84FF-75F65C95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98094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Yazılı sual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CEFEEFC-2F66-425B-A3E9-3A0CDF35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3218688"/>
            <a:ext cx="49286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Variantsız, sərbəst cavab; müəllim üçün nümunə cavab saxlanıla bilər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33E2CB1C-9945-4091-BB3B-083A5B15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3986784"/>
            <a:ext cx="520293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FF2365F-0815-4BF1-95E4-F0E4DC52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398678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76DFADE-478B-44DA-9570-AA316595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407822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Şəkil və video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99C8466B-16C6-45B2-AF60-977ABD28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4315968"/>
            <a:ext cx="49286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Sualın özünə şəkil (10 MB-a qədər) və video (30 MB-a qədər) əlavə oluna bilər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6C059BFF-4FC9-402B-8C55-F17ED5D7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5084064"/>
            <a:ext cx="520293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9A8E87EB-C95E-4D1B-B478-588855DF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508406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02E8D902-3F85-4463-9974-AD2F6EB5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517550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Praktiki kod sualı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C764D68-F082-4C97-8FD2-3C5A9588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5413248"/>
            <a:ext cx="49286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Starter kod + görünən/gizli test-case-lər; 5 dil: Python, JavaScript, C++, Java, HTML</a:t>
            </a:r>
          </a:p>
        </p:txBody>
      </p:sp>
    </p:spTree>
    <p:extLst>
      <p:ext uri="{BB962C8B-B14F-4D97-AF65-F5344CB8AC3E}">
        <p14:creationId xmlns:p14="http://schemas.microsoft.com/office/powerpoint/2010/main" val="34269571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459B93-F3B2-43C7-861A-DE2D5FB5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B670E73-A715-4741-8058-41443AFC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SUALLAR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37E1F42-9D54-4B4F-9F3D-8AD842CA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Tək-tək sual əlavəsi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A0704C7-99D8-4A18-9749-CC8F3195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Sual mətni, variantlar, düz cavab, çətinlik və bal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EEF6A6A-90B4-4A47-891C-FCCDD03A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E76DBC5-A783-43F3-8DAE-81843ECF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FACBB91-8B5B-4332-8900-609DEA1F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628" y="1724594"/>
            <a:ext cx="7781544" cy="456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f3056b5f347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3632" y="1756598"/>
            <a:ext cx="7717536" cy="44969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3E7AE35-AB5F-40AA-B277-561E22F4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1487825-DE06-4321-81A3-413FB960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Çətinlik səviyyəsi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65A49BE-FB43-4E24-8748-5C68BB95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Asan / orta / çətin — statistikada sual analizi üçün istifadə olunur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AE05D58-F687-48DB-A289-40DC912B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00D3835-1F64-4E95-9863-819E8F0B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7004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Bal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FD12E27-4F39-4188-8C14-A4E98567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71800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Hər sual üçün ayrıca bal təyin oluna bilər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56333D6-3F33-49ED-A9B6-F3FC589A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A9F1B75-D733-4273-9B84-A4F3CD76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566160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Medya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232C402-0475-48A2-8B8A-BFE3D8E0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6791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Sual mətninə şəkil və ya video əlavə etmək mümkündür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B066F10-8DC0-41C0-B297-083423EF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80560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0D8F65C-9F66-48F2-828D-A83D7CD2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462272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Sual üçün vaxt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12BD18D-B835-4130-8FFF-54296A11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764024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İstəyə görə həmin sual üçün ayrıca vaxt limiti</a:t>
            </a:r>
          </a:p>
        </p:txBody>
      </p:sp>
    </p:spTree>
    <p:extLst>
      <p:ext uri="{BB962C8B-B14F-4D97-AF65-F5344CB8AC3E}">
        <p14:creationId xmlns:p14="http://schemas.microsoft.com/office/powerpoint/2010/main" val="118761530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ED0490-078A-44A3-8BA4-330A6710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F99205-F602-4809-AAD3-B8A51191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SUAL BANKI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5D634CA-62AE-44C6-A990-0979E994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Sual bankı — kitabxana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B323409-B1C1-4A10-B430-8D959BFE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İmtahandan asılı olmayan, təkrar istifadə olunan sual toplusu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2CE84AA-7EA6-4387-A2C0-E71F9D33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A2476DF-B60D-4E7E-ABD2-4CE0AD6D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AFE1D8F-0F60-45BD-9EE2-5319CEB6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628" y="1724594"/>
            <a:ext cx="7781544" cy="456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c95d4f14740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3632" y="1756598"/>
            <a:ext cx="7717536" cy="44969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A455C06-B18A-466B-AECA-54881489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10553C6-E713-4FAB-A7A1-19A10351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Fənn və mövzu üzrə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F46FB6B-6EB4-419D-B521-A44CA43A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Bank fənnə və mövzuya bağlanır, kafedra daxilində paylaşıla bilər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B4ACF1-668B-4966-AF67-A128FEFC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CEFCCB8-479D-4B4B-8545-853DD437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70048"/>
            <a:ext cx="281635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Bir dəfə yaz, çox dəfə istifadə et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E99E88B-99A5-48F7-9D53-261C8E9D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218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Eyni sual bir neçə imtahanda, bir neçə semestrdə işlənə bilər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3FFD26B-2B61-4D6F-AEDE-D693D798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31335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DFF51B4-9BEB-4584-824D-D6D24C2F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1304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Çətinlik balansı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670054A-6945-4CA7-A7D2-4B0FD88B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114800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Sistem asan/orta/çətin bölgüsünə görə imtahan tərtib edə bilir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ACDB29A-F516-4B57-B64E-594FCA62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27448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47391E6-2820-4DC4-B552-B6E71C97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709160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Word ixracı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1713C09-8AEB-47D3-B5A3-DDABEE8E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01091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Bankın tam məzmunu çap üçün .docx faylı kimi endirilə bilər</a:t>
            </a:r>
          </a:p>
        </p:txBody>
      </p:sp>
    </p:spTree>
    <p:extLst>
      <p:ext uri="{BB962C8B-B14F-4D97-AF65-F5344CB8AC3E}">
        <p14:creationId xmlns:p14="http://schemas.microsoft.com/office/powerpoint/2010/main" val="58263599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6487BC3-30F7-4758-9D42-7FEF7A41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54D8441-A5C7-4A29-9A63-05C809C9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SUAL BANKI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DAB1E84-C7A2-4696-B4E2-525C6FAF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Toplu idxal — PDF, şəkil, OCR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98B905A-2FC3-43D1-8C5D-5D87A412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Mövcud sual fayllarını sistemə köçürmək üçün emal masası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7CA5E3-3DAF-45D8-B7E1-AFB33291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45D4FBD-61F6-4606-8A6E-3414C40D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848AD9B-F56F-4AB0-9D6A-24983C8B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458" y="1723644"/>
            <a:ext cx="7595884" cy="4562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beb8f4e8947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6462" y="1755648"/>
            <a:ext cx="7531876" cy="44988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E041EC9-4B98-4578-BBCB-0EA5F19C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C1E73EF-09A0-4DE9-9B46-DCB1BBFE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Qəbul olunan formatlar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169147A-1A0A-4FCB-BF8A-9A7ACBE8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PDF, TXT, PNG, JPG. Word və icra olunan fayllar təhlükəsizlik səbəbi ilə qəsdən bloklanıb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5764382-9B59-4F22-B23A-E55C278B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75788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DEF7829-7505-4EE4-B8CF-0468F057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857500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Skan edilmiş PDF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89004F-8989-4FD2-A539-69C1099D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159252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Mətn qatı olmayan sənəddə avtomatik OCR işə düşür (Azərbaycan dili dəstəklənir)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3AABF9D-6156-47D8-93D4-6BAE3716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59352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D74B399-248D-4F48-811D-8189604D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941064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Düstur və şəkil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E13D4EB-4237-4D01-8D0A-72B9ABCA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242816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Riyazi düsturlar tanınır; mürəkkəb 2 ölçülü düsturlar variant altına şəkil kimi yerləşdirilir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B700AB0-F5FC-4C6C-8240-3A448794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4291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6AFF574-A599-470B-A2FE-CC396C2D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02462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3 səviyyəli yoxlama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12AB51A-CC55-4603-B72B-F5788ED7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326380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Xəta / xəbərdarlıq / məlumat — çatışmayan variant, dublikat sual, düz cavabsız sual göstərilir</a:t>
            </a:r>
          </a:p>
        </p:txBody>
      </p:sp>
    </p:spTree>
    <p:extLst>
      <p:ext uri="{BB962C8B-B14F-4D97-AF65-F5344CB8AC3E}">
        <p14:creationId xmlns:p14="http://schemas.microsoft.com/office/powerpoint/2010/main" val="96503749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1778D5-2B7F-4B0F-A6A0-6C8D17C1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BCA9C7F-F7FB-46C3-8BEE-DB766E55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SUAL BANKI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CE74E23-4872-4033-B967-8CA90A62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Bankdan imtahana sual seçimi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FC3BCCC-4715-4026-BD77-7F506EB0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Süzgəclə axtar, işarələ, imtahana köçür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AE0E70-DB36-4EEE-B470-8BB09EFC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EF2794F-D561-47A7-96BE-9CB6BA6B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E3EF9BB-63F9-4C97-8095-3180C79F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628" y="1724594"/>
            <a:ext cx="7781544" cy="456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2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32318897b42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3632" y="1756598"/>
            <a:ext cx="7717536" cy="44969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968D167-D4F4-4331-ABAB-78C128A5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555C417-7DF4-40AF-A306-54DE4D53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Süzgəclər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ECBCD25-37E5-414D-A18F-63CEEC58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Fənn, mövzu, çətinlik və dil üzrə axtarış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42F3208-3CE5-4764-A953-FA5C48D9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B5FB6C9-D9DB-4394-A015-9297DBD5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7004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Toplu seçim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57209C3-5004-488E-8BDC-8C039C4E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71800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Bir neçə sual eyni anda işarələnib imtahana əlavə olunur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10C0354-4E30-4914-AEE2-C2581E61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6722474-7490-4398-9210-87CBC969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566160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Surət kimi köçürülür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14EFC05-31E3-4314-95BC-E83870DB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6791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İmtahandakı nüsxə banka bağlı qalmır — sonrakı redaktə keçmişi dəyişmir</a:t>
            </a:r>
          </a:p>
        </p:txBody>
      </p:sp>
    </p:spTree>
    <p:extLst>
      <p:ext uri="{BB962C8B-B14F-4D97-AF65-F5344CB8AC3E}">
        <p14:creationId xmlns:p14="http://schemas.microsoft.com/office/powerpoint/2010/main" val="36210358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8ABCBC-71F2-463A-9463-CA1D99AD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3347C1D-4280-44B3-80AE-8F9CE3B4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ELEKTRON AXIN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6057424-2F71-4196-8E3A-0C795EEF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Müəllim → İmtahan Mərkəzi sual göndərişi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71665D-BD50-41B3-B74F-41371DEE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Final və kollokvium sualları kağızla deyil, sistem daxilində təhvil verilir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5DAFC19-5B5E-44AF-A580-9A0C1F5C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9D816B6-9EF6-49DD-9F18-9CE09F3E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7925D0-FC7E-4198-BCDD-50BBADBB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047" y="1723644"/>
            <a:ext cx="5956705" cy="4562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5b2567fd649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6051" y="1755648"/>
            <a:ext cx="5892697" cy="44988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92876D4-EC1A-4153-BEB7-EBE330FA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5F79B57-546F-4A2F-B677-F92F9DC8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Kağız təhvilin əvəzi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CAF4A46-B536-47F4-806B-B8ED7194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Müəllim sual dəstini fənn, qrup və imtahan növü ilə birlikdə elektron göndərir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12F607-3D85-450E-91ED-04500B3E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75788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E17AAAA-E7B8-4490-92C4-3B0EDB31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857500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Mərkəzdə baxış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A3254E6-97A2-41BD-BC81-4DA43B93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159252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İmtahan Mərkəzi göndərişi açır, sualları yoxlayır, qəbul və ya geri qaytarır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F4813B5-4D8F-4702-AA27-1F399907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59352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81EC84A-6F32-429B-AE11-F010B9F5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941064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İz qalır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A1F1AD4-DCE8-4E37-9BF4-E40420B5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242816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Kim nə vaxt göndərdi, kim nə vaxt qərar verdi — hamısı qeydə alınır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276A002-91F9-4EB3-9793-BA3BAA3E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5546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F044879-D22F-4825-9B24-A3680BC1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83717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Məxfilik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C3FFE95-E5C0-4F2F-B7A7-52ED7458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13892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Suallar imtahana qədər tələbə tərəfinə heç bir şəkildə düşmür</a:t>
            </a:r>
          </a:p>
        </p:txBody>
      </p:sp>
    </p:spTree>
    <p:extLst>
      <p:ext uri="{BB962C8B-B14F-4D97-AF65-F5344CB8AC3E}">
        <p14:creationId xmlns:p14="http://schemas.microsoft.com/office/powerpoint/2010/main" val="134202695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42B750E-1B53-456B-8129-C902EFB6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2F0B36-54D1-42FC-AB34-4918B658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ÇOXDILLILIK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4FE53F2-E2BD-4FDB-BE10-5DE947CA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Çoxdilli imtahan (AZ / EN / RU / TR)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E1D798C-B28D-4A59-874E-D7E3BBDA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AZ və EN bölmələri olan fakültələr üçün — bir imtahan, paralel dil variantları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4D713CA-534A-47D1-9374-40D3447B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AA208FF-CF26-4F57-B4D4-9F2A44DE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FA04982-F50D-4C70-BB85-331B881F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628" y="1724594"/>
            <a:ext cx="7781544" cy="456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634e6c39045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3632" y="1756598"/>
            <a:ext cx="7717536" cy="44969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FA7FE46-F7FD-4908-8C02-941BA426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3E5BAD3-10E5-4F17-8C01-EC7D01CE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Bir imtahan konteyner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F24F8CC-02B2-40CA-B523-2EC0CC6B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Hər dil ayrıca variantdır; tələbə girişdə dilini seçir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9A9E179-6B76-400C-B17D-F5AA29F5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9CEFC22-B83C-44EE-A9A4-88AEFA25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7004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Parite qapısı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E1DD679-ECAB-4073-8156-99E9EB07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71800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2 və daha çox aktiv dil olduqda hər variantın SUAL SAYI və ÜMUMİ BALI bərabər olmalıdır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A5D1F8D-D081-4040-A243-F5BD8A82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71900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04E43A1-7235-4C92-85AA-DCCFCC77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753612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Bərabər olmasa dərc olunmur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16B6091-9D7A-4244-9BF2-380F9875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055364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Sistem konkret fərqi göstərir — «AZ 20 sual / EN 18 sual» kimi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F1DC425-6811-4329-852E-20B786B6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68012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DC3B6F1-B180-4335-8E11-F0CE2C9E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649724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Ədalət zəmanəti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50B3AA-FE89-45E2-97D2-F8457806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951476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Bir bölmənin daha asan imtahan alması struktur olaraq mümkün deyil</a:t>
            </a:r>
          </a:p>
        </p:txBody>
      </p:sp>
    </p:spTree>
    <p:extLst>
      <p:ext uri="{BB962C8B-B14F-4D97-AF65-F5344CB8AC3E}">
        <p14:creationId xmlns:p14="http://schemas.microsoft.com/office/powerpoint/2010/main" val="37888348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FC427BC-A632-4B67-8897-95BC0158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ACF9776-92F7-4416-AF38-8CE16785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FORMATLAR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1B51A69-6E8A-4551-9F41-2B194FE3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Format × kateqoriya matrisi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6BDBAD4-A44F-4236-A949-E0AE8400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Sistemdə iki müstəqil təsnifat var — onların birləşməsi imtahanın davranışını təyin edir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37BF5D4-9E90-4DBD-81BD-36453B2F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C527FCC-3B3E-41BB-A472-7B4CC7F3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38E6061-8ECC-4EA8-89C5-1CBD4B8A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28800"/>
            <a:ext cx="11064240" cy="51206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F1B3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5D0809E-041A-46CB-84B6-1781FD8B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054993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Kateqoriya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4D0C29C-5C10-487F-9F54-0FBE0B47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833" y="1965960"/>
            <a:ext cx="166677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Kim yaradır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8C74838-7FE7-44B0-8FFD-386BA205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928" y="1965960"/>
            <a:ext cx="24432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Haradan başlayır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F10F497-3473-444A-86C0-2AB79CB9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461" y="1965960"/>
            <a:ext cx="2054993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C1BC1EE-2BC4-48B6-B917-7E2E6C5F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774" y="1965960"/>
            <a:ext cx="147266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Nəzarətçi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45A7201-75A2-4FA4-88E8-92B13C25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40864"/>
            <a:ext cx="110642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243F2E8-6B72-475E-9E74-917DB44E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87168"/>
            <a:ext cx="2054993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Sınaq (quiz)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5C5E97B-3F13-4C02-83CF-7644377F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833" y="2487168"/>
            <a:ext cx="166677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Müəllim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100F8C6-2788-42B8-AC98-539AF05E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928" y="2487168"/>
            <a:ext cx="244321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Tələbə kabinetindən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F1ACBCB-0F56-4ADC-B900-AB09FEB4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461" y="2487168"/>
            <a:ext cx="2054993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yox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71552D9-BD02-4217-A80F-12D115B7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774" y="2487168"/>
            <a:ext cx="147266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istəyə görə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FBF80CC-1933-4B57-A780-DD7C130B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54096"/>
            <a:ext cx="2054993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Kollokvium (midterm)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9A7655A-E843-4DC3-8B8F-792450B1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833" y="3054096"/>
            <a:ext cx="166677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İmtahan Mərkəzi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4BE956A-0440-4ECC-89D5-B3892E4C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928" y="3054096"/>
            <a:ext cx="244321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Tələbə kabinetindən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7F169F7-CE7F-4E01-B968-FAC06F24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461" y="3054096"/>
            <a:ext cx="2054993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fərdi PIN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9D1F252-0196-4CB4-9325-8D6BEE9E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774" y="3054096"/>
            <a:ext cx="147266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istəyə görə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F847E63-295E-4575-BA3F-E3ABB800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0"/>
            <a:ext cx="110642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475845D-201C-4947-ABFC-980A2E96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21024"/>
            <a:ext cx="2054993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Final imtahan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6ADEA08-65DC-4046-9365-C5FC7443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833" y="3621024"/>
            <a:ext cx="166677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İmtahan Mərkəzi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63B0CF8-0AD1-48D8-91A2-7932A108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928" y="3621024"/>
            <a:ext cx="244321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Zal girişi /exams/final/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4495650-7DA9-4354-B5D6-B971796A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461" y="3621024"/>
            <a:ext cx="2054993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fərdi PIN + zal kompüteri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142A18B-B52D-4743-BF17-ED8D2E99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774" y="3621024"/>
            <a:ext cx="147266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MƏCBURİ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68B35E56-192D-4C60-ADA7-A17378DC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87951"/>
            <a:ext cx="2054993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Yerləşdirmə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341B365-08B7-4252-85DE-23300196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833" y="4187951"/>
            <a:ext cx="166677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İmtahan Mərkəzi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40B9324-86EF-4080-AB23-118B215E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928" y="4187951"/>
            <a:ext cx="244321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Təyinat üzrə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12E9E8C-13CB-4AC3-A955-4F1EFD8C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461" y="4187951"/>
            <a:ext cx="2054993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fərdi PIN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50A635E-B521-48C7-8A63-972B81A7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774" y="4187951"/>
            <a:ext cx="147266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istəyə görə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18F2CB50-5FA2-4369-9D34-0CB46315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08576"/>
            <a:ext cx="110642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676F667-98B0-4464-92D7-33ABB362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54879"/>
            <a:ext cx="2054993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Məşq / sınaq keçidi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0D4B3EB-3121-4757-8438-3D658106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833" y="4754879"/>
            <a:ext cx="166677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Müəllim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1089F4B-F36B-43B5-B9D0-99E22333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928" y="4754879"/>
            <a:ext cx="244321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Kabinet · nəticəyə təsir etmir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7199A7F1-9C54-45A9-B27B-A33B0C24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461" y="4754879"/>
            <a:ext cx="2054993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yox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3AC01421-358A-4A3B-8AC8-BC443A93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774" y="4754879"/>
            <a:ext cx="147266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yox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F5DA2C23-941B-4FD0-9091-678F8AC6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07024"/>
            <a:ext cx="1106424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1B3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281A5AE-4331-4A96-A503-87A24ECC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25896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Format oxu (ayrıca): TEST — avtomatik ballanır · YAZILI — müəllim əl ilə yoxlayır · PRAKTİKİ KOD — test-case-lərlə avtomatik icra olunur</a:t>
            </a:r>
          </a:p>
        </p:txBody>
      </p:sp>
    </p:spTree>
    <p:extLst>
      <p:ext uri="{BB962C8B-B14F-4D97-AF65-F5344CB8AC3E}">
        <p14:creationId xmlns:p14="http://schemas.microsoft.com/office/powerpoint/2010/main" val="211376609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A22F69-28AC-4CFC-B84F-123FED4C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A73576F-A2EF-463B-8DBD-525DFDDC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FORMAT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C4C812-CF4A-4D3F-ACFB-EA116CB5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Praktiki kod imtahanı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E0D1E8-796E-4EF7-8AE0-CC7C3E78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Tələbə kod redaktorunda yazır, sistem test-case-lərlə avtomatik yoxlayır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0647CE1-6FFE-484B-8528-973023BE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F2C00B6-3928-4F33-9B06-A137B875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E8E38D8-699C-4E08-94E3-18553393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628" y="1724594"/>
            <a:ext cx="7781544" cy="456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e25793a3542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3632" y="1756598"/>
            <a:ext cx="7717536" cy="44969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518276E-FC82-4169-A0D1-7C0E3686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2A7A0F5-B793-4E78-9926-0EA9925E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5 proqramlaşdırma dili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B445571-77C3-4172-81FE-ADFA20F2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Python, JavaScript, C++, Java, HTML/CSS/JS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5D31F10-6B9D-4B43-8977-C5352B2C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F6D16AE-36E5-4826-B082-AF9B059E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7004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Görünən + gizli testlər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29FC28F-23A5-499B-9F30-CEDBD469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71800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Tələbə nümunə testi görür; qiymət gizli testlərlə hesablanır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5DF7E78-D862-423C-8684-6509D065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B792388-0433-4A68-A8B5-87EF9DBC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566160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Starter kod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DD42C79-DEB1-426B-B14A-574E0B6F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67912"/>
            <a:ext cx="2788920" cy="297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Müəllim başlanğıc şablonu verə bilir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BB86D69-EF0A-43FC-82B2-2CFACC10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3108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9A56B31-AB6C-4940-9B12-C8C8BA8F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274820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Qeyd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E09643D-8046-4E4B-9034-1F9FD7C2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576572"/>
            <a:ext cx="2788920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Bu modul hazırdır, lakin cari istismar konfiqurasiyasında bayraq arxasında bağlıdır — tələb olunarsa aktivləşdirilir</a:t>
            </a:r>
          </a:p>
        </p:txBody>
      </p:sp>
    </p:spTree>
    <p:extLst>
      <p:ext uri="{BB962C8B-B14F-4D97-AF65-F5344CB8AC3E}">
        <p14:creationId xmlns:p14="http://schemas.microsoft.com/office/powerpoint/2010/main" val="35065492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606E52A-EE5A-44B0-A0AD-C2A4C97C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30B5C43-6173-4474-A2EB-C24FBF06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FORMAT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3300C1C-A40A-434C-B511-6D8502BA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Yazılı (esse) imtahan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4065FC5-837E-4310-BD44-FDB69093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Açıq suallar — müəllim oxuyur və bal verir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20E7761-7CD1-41DE-8D13-AA673A34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1D9680-5B04-4466-A69F-41F45E84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F381D60-4524-4358-BAAA-CF7C81EA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628" y="1724594"/>
            <a:ext cx="7781544" cy="456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506afb39942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3632" y="1756598"/>
            <a:ext cx="7717536" cy="44969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A2BAFDB-E167-4B44-AB5B-BF059A6E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561A27E-1869-4804-BC50-9AB9FEF4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Sərbəst mətn cavabı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EA6F20A-3E0B-4156-B532-1F765179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297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Uzun cavablar, avtomatik yaddaşla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0C6688-EC66-4E51-B25D-AE37F73E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0088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55FCF0A-007A-4F3B-81E7-DE344E2C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48259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Fayl əlavəsi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EBF25E5-8B31-4B99-8396-28F54205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784348"/>
            <a:ext cx="2788920" cy="297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Tələbə cavabına fayl yükləyə bilər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6F2BF7B-6A90-4BA6-9E95-15220CC8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954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E501288-8393-4748-9AEF-60DE99E7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19125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Rəsm kətanı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E8AC48C-92BE-4085-AC80-17DCBA1D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49300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Sxem, qrafik, torpaq kəsiyi və s. birbaşa ekranda çəkilə bilər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3D94CF9-8696-44FC-A348-0B040441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0565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B3C1A85-C76E-4446-990A-F5D7D58B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08736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Əl ilə qiymətləndirmə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0F24197-8852-488D-B5BA-166F64ED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389120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Hər sual üçün ayrıca bal və rəy; qismən bal mümkündür</a:t>
            </a:r>
          </a:p>
        </p:txBody>
      </p:sp>
    </p:spTree>
    <p:extLst>
      <p:ext uri="{BB962C8B-B14F-4D97-AF65-F5344CB8AC3E}">
        <p14:creationId xmlns:p14="http://schemas.microsoft.com/office/powerpoint/2010/main" val="116205141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F95CE15-0ADC-4A3E-8EF9-648DB628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5CF18DA-DD33-4B48-8948-38A9A0FC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TƏLƏBƏ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C098B5C-61F8-45F1-BD09-01077049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Tələbə kabineti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91DECA8-28D2-4F3D-870B-4B7BD017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Tələbə üçün vahid giriş nöqtəsi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26F58C8-F592-410B-B072-836954F2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2DE446B-1637-4415-8175-E091EA65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69FC45D-F156-4044-8471-6B1B6429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628" y="1724594"/>
            <a:ext cx="7781544" cy="456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63e3d1f5a48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3632" y="1756598"/>
            <a:ext cx="7717536" cy="44969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9B9F748-02B0-4738-9CAC-3DAECE90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1A1D800-B678-4C34-9428-32DF7A38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İmtahanlarım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E26A04-D303-452D-AB6C-DF623596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Təyin olunmuş və açıq imtahanlar, tarix və müddət ilə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1168C9C-44CE-4CB7-9F8B-2374711A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9AF9889-FCB5-41C1-A267-1CE311BB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7004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Nəticələrim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C627782-F4CD-4B48-99C1-761B8E93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71800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Keçmiş imtahanların balı və detallı cavab təhlili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0DB5755-FFE3-41A3-BC1D-AE3C15E2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B63B45D-5A53-4CCB-AE43-2A7B2902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566160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Apellyasiyalarım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1BD7AB6-AEC6-4C5C-B69B-775B7C04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67912"/>
            <a:ext cx="2788920" cy="297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Açılmış müraciətlərin statusu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DA34480-DDE3-417F-8E85-CF1FF703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3108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299491D-6A99-48A4-B2C3-96E9FEF0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274820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Akademik qeydlər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8ADFA40-555F-49E2-8F29-98CF4343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576572"/>
            <a:ext cx="2788920" cy="297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Jurnal, dərs cədvəli, transkript</a:t>
            </a:r>
          </a:p>
        </p:txBody>
      </p:sp>
    </p:spTree>
    <p:extLst>
      <p:ext uri="{BB962C8B-B14F-4D97-AF65-F5344CB8AC3E}">
        <p14:creationId xmlns:p14="http://schemas.microsoft.com/office/powerpoint/2010/main" val="180415323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CE19571-C387-45EC-B481-B4007A63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75CF9DF-7AE9-4761-8D46-295487EC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TƏLƏBƏ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C14C77B-2406-4970-8CD5-AA149E84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Açıq imtahanlar siyahısı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38A5576-C2C4-4CF4-BA86-70ACFD12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Axtarış, tip üzrə süzgəc, kart görünüşü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3DD6AA7-6F8C-4C34-8097-D0A408E1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E683CE9-1F5D-4906-853A-9CCA6BF9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04D479F-7048-49E7-B524-0EBA38A1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628" y="1724594"/>
            <a:ext cx="7781544" cy="456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2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7e55c8acf49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3632" y="1756598"/>
            <a:ext cx="7717536" cy="44969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AEBF78D-9968-4196-82EE-20C006CE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F28D025-74C4-4DC3-8EE7-46B6C550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Kartda hər şey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CAB7056-F125-48C6-8632-F30A53CD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Fənn, tarix, müddət, sual sayı, qalan cəhd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55035AA-562D-495E-B264-912799B7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F05D388-835C-48EA-AAF5-404BAD53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7004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Final burada GÖRÜNMÜR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CEE2A1A-FFD6-4791-B265-4195D066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71800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Final imtahanı yalnız zal giriş səhifəsindən verilir — siyahıya düşmür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01AC0EE-DDBF-4445-A2C0-C76C7C86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DE52D68-6CE9-4E0E-9CE9-C204E1B1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566160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Başlama qapıları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7A72E73-97CC-4E35-BF5E-8321DB0C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67912"/>
            <a:ext cx="278892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Aktivlik, tarix pəncərəsi, cəhd limiti, jurnal qayıb limiti — hamısı serverdə yoxlanılır</a:t>
            </a:r>
          </a:p>
        </p:txBody>
      </p:sp>
    </p:spTree>
    <p:extLst>
      <p:ext uri="{BB962C8B-B14F-4D97-AF65-F5344CB8AC3E}">
        <p14:creationId xmlns:p14="http://schemas.microsoft.com/office/powerpoint/2010/main" val="69918061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ACDB93D-B78B-42AB-8115-4E5CC706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36AB3F8-F874-40A0-A1F1-22036833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TƏLƏBƏ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B1F9652-4085-481B-BAB9-1249224E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İmtahan ekranı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AA3BF47-5217-4CC2-A1A9-74E88061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Sual xəritəsi, taymer, işarələmə və avtomatik yaddaş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08270AE-C142-45D5-866C-E5B00C04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C883573-C97F-4928-8427-3BFE2CC9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EC58FE6-47C3-4B15-BAE8-F918032F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890" y="1723644"/>
            <a:ext cx="7085019" cy="4562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a9157579548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1894" y="1755648"/>
            <a:ext cx="7021011" cy="44988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48A7C2A-C586-49FE-852C-E2AE0883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226792F-7D3F-49D3-8909-BC0B4F64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Sual xəritəsi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EA49C04-71DD-4082-87A1-D8372EBA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Cari · cavablanmış · işarələnmiş · cavabsız — rənglə real vaxtda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AED7082-6F56-4334-80D8-0D6391DC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8086A78-6E06-416E-A177-F1BFA490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7004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«Sonra qayıdım» işarəsi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B4EA193-C399-4FE7-BA5B-3F64B032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71800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İşarələnən suallar həm brauzerdə, həm serverdə saxlanılır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55D5946-8EC0-4821-AC63-613C382B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0D4AEEB-0981-4AC3-B430-7CFEF998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566160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Taymer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68A6400-C531-483A-81E2-F6F71C2C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6791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Server-avtoritativ: səhifə yenilənsə də vaxt sıfırlanmır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2FA610D-281F-4B5F-898F-9EADEB1E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80560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2A221F0-523E-463B-8122-DEC711AD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462272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Avtomatik yaddaş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3280F41-7CD7-49BD-A078-3351DA30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764024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Yalnız dəyişən sual göndərilir — şəbəkə yükü minimuma enir</a:t>
            </a:r>
          </a:p>
        </p:txBody>
      </p:sp>
    </p:spTree>
    <p:extLst>
      <p:ext uri="{BB962C8B-B14F-4D97-AF65-F5344CB8AC3E}">
        <p14:creationId xmlns:p14="http://schemas.microsoft.com/office/powerpoint/2010/main" val="13602969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99B6BAC-9911-40CE-8B75-34B310D9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E07A607-C5EC-4204-9276-E3854C4E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TƏLƏBƏ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875FFB9-617C-450A-BCA6-F7B7528F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İmtahan ekranının texniki qorumaları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E07BADE-6521-414C-84C2-B1E63596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«İnternet kəsildi», «brauzer bağlandı», «iki tab açdım» — bu hallar əvvəlcədən həll edilib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40FBE01-EEC9-4DD6-BE71-A9DFAF09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AE5269A-8A02-4DE7-887B-BA8511B5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740DBC2-102E-4DFD-9346-9DB256B7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20293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7A815C-A0CA-44D8-ABDC-F05F28EE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EABF5E9-8DFC-494D-B42B-51BBFCB9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88366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Avtomatik yaddaş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7504BAE-8D91-4A32-87C0-EC6E37A4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21408"/>
            <a:ext cx="49286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Test seçimində 1 saniyə, yazılı mətndə 3 saniyə gecikmə ilə serverə yazılır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1E6AE0F-3843-4F3F-8334-E4323D23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89504"/>
            <a:ext cx="520293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641DC9C-2F5B-4845-98D5-B7696629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8950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F12611E-D333-495B-ABEE-7B568527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98094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Lokal ehtiyat nüsxə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58B6D51-AC94-4C82-AA7D-5A65C41E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18688"/>
            <a:ext cx="49286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Cavab dərhal brauzerin yaddaşına da yazılır — səhifə çökərsə bərpa olunur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1A2D87E-2F36-4C03-A93D-BBFC70CA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86784"/>
            <a:ext cx="520293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5E84892-8D4C-4D1F-9313-B6C726A2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8678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E661524-A52D-4ECF-AFD6-3D5632FA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07822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İki tab qoruması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28A6570-015D-4E27-904A-EDED4C71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315968"/>
            <a:ext cx="49286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Köhnə tabdan gələn yazı rədd edilir, tələbəyə «başqa tabda yeniləndi» xəbərdarlığı gedir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C9F31E94-FC44-43E6-A0D4-9FF582B8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520293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D1AAFF2-2B66-4D49-B847-CFBF17C8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D053FC4-C0C6-4B24-BC06-FFA36181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7550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Vaxt xəbərdarlığı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B37B332-6E31-4192-80B2-B8278246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413248"/>
            <a:ext cx="49286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Son 5 dəqiqədə avtomatik xəbərdarlıq modalı çıxır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5C2C54D-A356-4820-8851-BA24E2E1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1792224"/>
            <a:ext cx="520293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80EBE04-438E-43A9-8A25-72254A58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179222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6B9AD09-0801-4132-9AE1-7E856B5C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188366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Vaxt bitəndə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B90A639-BEA7-45BB-B1EE-C9B2C57C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121408"/>
            <a:ext cx="49286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Cavablar saxlanır və cəhd avtomatik bağlanır — brauzer bağlı olsa belə server özü bağlayır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6B841472-CBBA-4408-8973-A3711989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2889504"/>
            <a:ext cx="520293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9995642-467A-4B4E-9497-C4469ECE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288950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C15DF53-62C2-4584-AE31-8F6665FF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98094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Sual-başına gizli çatdırılma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A00D896-2F3B-4573-8C18-BC51905C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3218688"/>
            <a:ext cx="49286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Vaxt limitli sualın mətni taymer serverdə başlamamış səhifə mənbəyinə düşmür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1BB6A4AF-E557-4D12-B277-90060849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3986784"/>
            <a:ext cx="520293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F357D2C4-9DAE-4752-8458-8B8E52A4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398678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8532EF9-FEA0-4D35-BCEB-7B9474FB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407822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Kütləvi başlama dalğası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51DAF7F-110E-4862-B345-1F2005D4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4315968"/>
            <a:ext cx="49286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Eyni anda minlərlə start olanda tələbə çökmə deyil, özü-yenilənən «başladılır» səhifəsi görür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5A2CED83-8122-4EC6-A70C-12108A0A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5084064"/>
            <a:ext cx="5202936" cy="9692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6D72AAFE-C4F8-426A-80F5-1F1ABE13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5084064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31967CFB-C4D6-4F9B-AFDB-3EB818AF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5175504"/>
            <a:ext cx="4928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Düz cavab heç vaxt göndərilmir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51B65BD-581E-44A9-8D94-6417FB43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5413248"/>
            <a:ext cx="492861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Səhifənin mənbəyində düz cavab olmur — «kodu aç, cavabı gör» mümkün deyil</a:t>
            </a:r>
          </a:p>
        </p:txBody>
      </p:sp>
    </p:spTree>
    <p:extLst>
      <p:ext uri="{BB962C8B-B14F-4D97-AF65-F5344CB8AC3E}">
        <p14:creationId xmlns:p14="http://schemas.microsoft.com/office/powerpoint/2010/main" val="77109905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FF868B8-021A-4D41-9130-DC8A69D9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15BFBA4-5F38-4717-91E1-3A2BDADE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TƏLƏBƏ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86D457F-E964-4E53-B87D-DECE6E04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Təhvil təsdiqi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1151CA1-C49E-4FAC-8082-DC80C34B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Təsadüfi təhvilin qarşısını alan iki mərhələli təsdiq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36F6496-20C9-41C5-870D-2EB4687F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27EF7E1-19B6-4CBB-BE39-87D40DA4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6FA359F-7B6C-4226-AC7B-E08F846E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890" y="1723644"/>
            <a:ext cx="7085019" cy="4562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2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92e1cbbc843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1894" y="1755648"/>
            <a:ext cx="7021011" cy="44988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682A004-CEF6-470E-B0D6-D5A69C8C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416498D-051B-4C22-A20B-662849FA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Cavabsız sual xəbərdarlığı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581983E-DB28-4F32-9DDD-480ED448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Modal neçə sualın cavabsız qaldığını göstərir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DBE1674-6E92-43EA-AB8C-1620413F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3CBED75-72FB-4624-AC75-94C4AD4A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7004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Geri dönüş yoxdur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5739003-8418-4DC5-B67E-79E49E04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71800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Təsdiqdən sonra cəhd bağlanır və cavablar dondurulur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F44805C-DCAA-47D4-B4E3-130FE23D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62ED2E7-FB54-4529-A0C2-CB2576D2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566160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Təkrar göndərmə bloku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4C10B2A-3304-4EE3-94F1-04AA8991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6791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Düymə bir dəfə işləyir — ikiqat təhvil mümkün deyil</a:t>
            </a:r>
          </a:p>
        </p:txBody>
      </p:sp>
    </p:spTree>
    <p:extLst>
      <p:ext uri="{BB962C8B-B14F-4D97-AF65-F5344CB8AC3E}">
        <p14:creationId xmlns:p14="http://schemas.microsoft.com/office/powerpoint/2010/main" val="210946099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C477083-E724-4909-95EA-3E6A8941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19F3ED9-B916-4366-A7E2-E71A1CB4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TƏLƏBƏ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41C7138-AF63-4461-81A4-A39F1B06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Nəticə ekranı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7FD8178-11E1-42ED-8A95-4D0A6342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Bal, düzgün/səhv bölgüsü və sual-üzrə cavab təhlili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A3CEAC9-E690-4A23-87E1-43347B85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B1DA836-4A97-4CEC-B157-EEEC5147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5E85575-6240-4B5F-9634-DE2A1A98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628" y="1724594"/>
            <a:ext cx="7781544" cy="456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ae17349b24b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3632" y="1756598"/>
            <a:ext cx="7717536" cy="449694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D148EBC-EE06-432A-B2A2-0A8F7272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92224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D3EE56D-6A0D-40C4-B9FF-8B053B73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773936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Dərhal nəticə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7EC8969-4667-4A44-9D41-8DE0DD99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07568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Test imtahanında bal təhvildən dərhal sonra hesablanır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DA08972-DB87-43A1-9AEE-9A95B193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ABB1AF5-4D80-43B1-87B2-DE4B9A24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670048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Cavab təhlili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7786588-8C18-47CE-A717-9D21FF2D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71800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Hər sual üzrə tələbənin cavabı və düz cavab (müəllim icazə verərsə)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A43C30C-F87A-4E8E-B1E9-1A00F665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8D5CC21-2998-4F83-8E8E-661FFE9C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566160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Nəticənin gizlədilməsi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A71B210-38C5-4BFC-98DE-EF3B0C25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6791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Müəllim/mərkəz nəticəni müvəqqəti gizlədə bilər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FF3D5E7-98BA-42AA-A89B-50585EB1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80560"/>
            <a:ext cx="5029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7DB47D-D261-4A70-9F6E-2BA155D3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462272"/>
            <a:ext cx="281635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Apellyasiya girişi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CDE7CE5-50F0-48F5-8B1B-63260639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764024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Nəticə ekranından birbaşa müraciət açıla bilir</a:t>
            </a:r>
          </a:p>
        </p:txBody>
      </p:sp>
    </p:spTree>
    <p:extLst>
      <p:ext uri="{BB962C8B-B14F-4D97-AF65-F5344CB8AC3E}">
        <p14:creationId xmlns:p14="http://schemas.microsoft.com/office/powerpoint/2010/main" val="84579014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80D19AB-579C-47D3-9319-FA3A5E78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51F8336-26A6-46C0-8718-C2B9EC50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0058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2C5BFF"/>
                </a:solidFill>
                <a:latin typeface="Helvetica Neue"/>
                <a:ea typeface="Helvetica Neue"/>
                <a:cs typeface="Helvetica Neue"/>
              </a:rPr>
              <a:t>FINAL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239D83C-D036-45D7-A3DF-F2D4C8B7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6072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2900" b="1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Final imtahan günü — 12 addım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75EC12-038F-4CBF-A7D5-DD2F1E1B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52144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Rollar arasında dəqiq bölünmüş, hər addımı sistemdə qeydə alınan prosedur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0399564-BE41-441C-AC22-53F45289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1908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spcAft>
                <a:spcPts val="0"/>
              </a:spcAft>
              <a:buNone/>
            </a:pPr>
            <a:r>
              <a:rPr sz="11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F0DB15D-2251-4289-AF6E-840747A7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19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EMS ARENA · İmtahan İdarəetmə Sistemi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4AFAF18-532D-45C4-9133-A9D90203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561" y="1705356"/>
            <a:ext cx="7662974" cy="4224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2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542fa7d0b43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99565" y="1737360"/>
            <a:ext cx="7598966" cy="4160520"/>
          </a:xfrm>
          <a:prstGeom xmlns:a="http://schemas.openxmlformats.org/drawingml/2006/main" prst="rect">
            <a:avLst/>
          </a:prstGeom>
        </p:spPr>
      </p:pic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0DCA028-4F5B-42C9-8207-E85FEE14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1888"/>
            <a:ext cx="11064240" cy="38404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A1577A0-C81B-4ECB-B633-3B196133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53328"/>
            <a:ext cx="10698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150" b="0">
                <a:solidFill>
                  <a:srgbClr val="0F1B36"/>
                </a:solidFill>
                <a:latin typeface="Helvetica Neue"/>
                <a:ea typeface="Helvetica Neue"/>
                <a:cs typeface="Helvetica Neue"/>
              </a:rPr>
              <a:t>Tələbə imtahanı YALNIZ öz PIN-i ilə və YALNIZ qeydiyyatdan keçmiş zal kompüterindən başlada bilir</a:t>
            </a:r>
          </a:p>
        </p:txBody>
      </p:sp>
    </p:spTree>
    <p:extLst>
      <p:ext uri="{BB962C8B-B14F-4D97-AF65-F5344CB8AC3E}">
        <p14:creationId xmlns:p14="http://schemas.microsoft.com/office/powerpoint/2010/main" val="146054182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2026-07-31T22:24:27.7550000Z</dcterms:created>
  <dcterms:modified xsi:type="dcterms:W3CDTF">2026-07-31T22:24:27.7550000Z</dcterms:modified>
</coreProperties>
</file>