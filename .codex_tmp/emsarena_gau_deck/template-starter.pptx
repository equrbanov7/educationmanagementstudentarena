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612dc484a9463c" /><Relationship Type="http://schemas.openxmlformats.org/officeDocument/2006/relationships/extended-properties" Target="/docProps/app.xml" Id="Rc8ef66125c1041bf" /><Relationship Type="http://schemas.openxmlformats.org/officeDocument/2006/relationships/officeDocument" Target="/ppt/presentation.xml" Id="Rc2c105c7c8a142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bb57530a164ee0"/>
  </p:sldMasterIdLst>
  <p:notesMasterIdLst>
    <p:notesMasterId xmlns:r="http://schemas.openxmlformats.org/officeDocument/2006/relationships" r:id="Rdf67c1fd4b804fa9"/>
  </p:notesMasterIdLst>
  <p:sldIdLst>
    <p:sldId xmlns:r="http://schemas.openxmlformats.org/officeDocument/2006/relationships" id="256" r:id="Rda3c1b3c41084427"/>
    <p:sldId xmlns:r="http://schemas.openxmlformats.org/officeDocument/2006/relationships" id="257" r:id="Re32373c4c6714289"/>
    <p:sldId xmlns:r="http://schemas.openxmlformats.org/officeDocument/2006/relationships" id="258" r:id="Rf8fdeb1de8e44cf0"/>
    <p:sldId xmlns:r="http://schemas.openxmlformats.org/officeDocument/2006/relationships" id="259" r:id="R75391129412f4ae3"/>
    <p:sldId xmlns:r="http://schemas.openxmlformats.org/officeDocument/2006/relationships" id="260" r:id="Radf48ab595f748b3"/>
    <p:sldId xmlns:r="http://schemas.openxmlformats.org/officeDocument/2006/relationships" id="261" r:id="R2a62d6bf4ca543d1"/>
    <p:sldId xmlns:r="http://schemas.openxmlformats.org/officeDocument/2006/relationships" id="262" r:id="Rff697605266641c8"/>
    <p:sldId xmlns:r="http://schemas.openxmlformats.org/officeDocument/2006/relationships" id="263" r:id="R2f4e939b138b48c5"/>
    <p:sldId xmlns:r="http://schemas.openxmlformats.org/officeDocument/2006/relationships" id="264" r:id="R26aab7b185db431d"/>
    <p:sldId xmlns:r="http://schemas.openxmlformats.org/officeDocument/2006/relationships" id="265" r:id="R1eb42fe1f30b4869"/>
    <p:sldId xmlns:r="http://schemas.openxmlformats.org/officeDocument/2006/relationships" id="266" r:id="R45b4a16ef1304e33"/>
    <p:sldId xmlns:r="http://schemas.openxmlformats.org/officeDocument/2006/relationships" id="267" r:id="R31ebfcfb42fd43e8"/>
    <p:sldId xmlns:r="http://schemas.openxmlformats.org/officeDocument/2006/relationships" id="268" r:id="R2a9ba31643f44a47"/>
    <p:sldId xmlns:r="http://schemas.openxmlformats.org/officeDocument/2006/relationships" id="269" r:id="R22c28340afb740b5"/>
    <p:sldId xmlns:r="http://schemas.openxmlformats.org/officeDocument/2006/relationships" id="270" r:id="Re662aa7bfbfc4371"/>
    <p:sldId xmlns:r="http://schemas.openxmlformats.org/officeDocument/2006/relationships" id="271" r:id="R2b5d0f4a478c49f7"/>
    <p:sldId xmlns:r="http://schemas.openxmlformats.org/officeDocument/2006/relationships" id="272" r:id="Rb73ccb6dbcee48c5"/>
    <p:sldId xmlns:r="http://schemas.openxmlformats.org/officeDocument/2006/relationships" id="273" r:id="Rb4ad0cd24a144ab2"/>
    <p:sldId xmlns:r="http://schemas.openxmlformats.org/officeDocument/2006/relationships" id="274" r:id="R817eb7dfc8774dd1"/>
    <p:sldId xmlns:r="http://schemas.openxmlformats.org/officeDocument/2006/relationships" id="275" r:id="R4d9622ac1c4b49d0"/>
    <p:sldId xmlns:r="http://schemas.openxmlformats.org/officeDocument/2006/relationships" id="276" r:id="Rcce6e3786f3f4a2c"/>
    <p:sldId xmlns:r="http://schemas.openxmlformats.org/officeDocument/2006/relationships" id="277" r:id="R3f17c337059c4687"/>
    <p:sldId xmlns:r="http://schemas.openxmlformats.org/officeDocument/2006/relationships" id="278" r:id="Rc7b34ffb791c4e0d"/>
    <p:sldId xmlns:r="http://schemas.openxmlformats.org/officeDocument/2006/relationships" id="279" r:id="R3b5f58303aa34d89"/>
    <p:sldId xmlns:r="http://schemas.openxmlformats.org/officeDocument/2006/relationships" id="280" r:id="R5ce5c2cefaf44822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df23e124b84811" /><Relationship Type="http://schemas.openxmlformats.org/officeDocument/2006/relationships/slideMaster" Target="/ppt/slideMasters/slideMaster1.xml" Id="R48bb57530a164ee0" /><Relationship Type="http://schemas.openxmlformats.org/officeDocument/2006/relationships/notesMaster" Target="/ppt/notesMasters/notesMaster1.xml" Id="Rdf67c1fd4b804fa9" /><Relationship Type="http://schemas.openxmlformats.org/officeDocument/2006/relationships/presProps" Target="/ppt/presProps.xml" Id="Rf7eff5423c7e4f95" /><Relationship Type="http://schemas.openxmlformats.org/officeDocument/2006/relationships/viewProps" Target="/ppt/viewProps.xml" Id="R87635a577a734456" /><Relationship Type="http://schemas.openxmlformats.org/officeDocument/2006/relationships/tableStyles" Target="/ppt/tableStyles.xml" Id="Rb555693375084757" /><Relationship Type="http://schemas.openxmlformats.org/officeDocument/2006/relationships/slide" Target="/ppt/slides/slide1.xml" Id="Rda3c1b3c41084427" /><Relationship Type="http://schemas.openxmlformats.org/officeDocument/2006/relationships/slide" Target="/ppt/slides/slide2.xml" Id="Re32373c4c6714289" /><Relationship Type="http://schemas.openxmlformats.org/officeDocument/2006/relationships/slide" Target="/ppt/slides/slide3.xml" Id="Rf8fdeb1de8e44cf0" /><Relationship Type="http://schemas.openxmlformats.org/officeDocument/2006/relationships/slide" Target="/ppt/slides/slide4.xml" Id="R75391129412f4ae3" /><Relationship Type="http://schemas.openxmlformats.org/officeDocument/2006/relationships/slide" Target="/ppt/slides/slide5.xml" Id="Radf48ab595f748b3" /><Relationship Type="http://schemas.openxmlformats.org/officeDocument/2006/relationships/slide" Target="/ppt/slides/slide6.xml" Id="R2a62d6bf4ca543d1" /><Relationship Type="http://schemas.openxmlformats.org/officeDocument/2006/relationships/slide" Target="/ppt/slides/slide7.xml" Id="Rff697605266641c8" /><Relationship Type="http://schemas.openxmlformats.org/officeDocument/2006/relationships/slide" Target="/ppt/slides/slide8.xml" Id="R2f4e939b138b48c5" /><Relationship Type="http://schemas.openxmlformats.org/officeDocument/2006/relationships/slide" Target="/ppt/slides/slide9.xml" Id="R26aab7b185db431d" /><Relationship Type="http://schemas.openxmlformats.org/officeDocument/2006/relationships/slide" Target="/ppt/slides/slide10.xml" Id="R1eb42fe1f30b4869" /><Relationship Type="http://schemas.openxmlformats.org/officeDocument/2006/relationships/slide" Target="/ppt/slides/slide11.xml" Id="R45b4a16ef1304e33" /><Relationship Type="http://schemas.openxmlformats.org/officeDocument/2006/relationships/slide" Target="/ppt/slides/slide12.xml" Id="R31ebfcfb42fd43e8" /><Relationship Type="http://schemas.openxmlformats.org/officeDocument/2006/relationships/slide" Target="/ppt/slides/slide13.xml" Id="R2a9ba31643f44a47" /><Relationship Type="http://schemas.openxmlformats.org/officeDocument/2006/relationships/slide" Target="/ppt/slides/slide14.xml" Id="R22c28340afb740b5" /><Relationship Type="http://schemas.openxmlformats.org/officeDocument/2006/relationships/slide" Target="/ppt/slides/slide15.xml" Id="Re662aa7bfbfc4371" /><Relationship Type="http://schemas.openxmlformats.org/officeDocument/2006/relationships/slide" Target="/ppt/slides/slide16.xml" Id="R2b5d0f4a478c49f7" /><Relationship Type="http://schemas.openxmlformats.org/officeDocument/2006/relationships/slide" Target="/ppt/slides/slide17.xml" Id="Rb73ccb6dbcee48c5" /><Relationship Type="http://schemas.openxmlformats.org/officeDocument/2006/relationships/slide" Target="/ppt/slides/slide18.xml" Id="Rb4ad0cd24a144ab2" /><Relationship Type="http://schemas.openxmlformats.org/officeDocument/2006/relationships/slide" Target="/ppt/slides/slide19.xml" Id="R817eb7dfc8774dd1" /><Relationship Type="http://schemas.openxmlformats.org/officeDocument/2006/relationships/slide" Target="/ppt/slides/slide20.xml" Id="R4d9622ac1c4b49d0" /><Relationship Type="http://schemas.openxmlformats.org/officeDocument/2006/relationships/slide" Target="/ppt/slides/slide21.xml" Id="Rcce6e3786f3f4a2c" /><Relationship Type="http://schemas.openxmlformats.org/officeDocument/2006/relationships/slide" Target="/ppt/slides/slide22.xml" Id="R3f17c337059c4687" /><Relationship Type="http://schemas.openxmlformats.org/officeDocument/2006/relationships/slide" Target="/ppt/slides/slide23.xml" Id="Rc7b34ffb791c4e0d" /><Relationship Type="http://schemas.openxmlformats.org/officeDocument/2006/relationships/slide" Target="/ppt/slides/slide24.xml" Id="R3b5f58303aa34d89" /><Relationship Type="http://schemas.openxmlformats.org/officeDocument/2006/relationships/slide" Target="/ppt/slides/slide25.xml" Id="R5ce5c2cefaf448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8403cd4da44c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ac62b3de3e4fda" /><Relationship Type="http://schemas.openxmlformats.org/officeDocument/2006/relationships/notesMaster" Target="/ppt/notesMasters/notesMaster1.xml" Id="R2c9d58edaa1a4f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d7c7b41abe4da4" /><Relationship Type="http://schemas.openxmlformats.org/officeDocument/2006/relationships/notesMaster" Target="/ppt/notesMasters/notesMaster1.xml" Id="R34979e3cfe1640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e192bc42e0469e" /><Relationship Type="http://schemas.openxmlformats.org/officeDocument/2006/relationships/notesMaster" Target="/ppt/notesMasters/notesMaster1.xml" Id="R26365274211244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8960b874fe412a" /><Relationship Type="http://schemas.openxmlformats.org/officeDocument/2006/relationships/notesMaster" Target="/ppt/notesMasters/notesMaster1.xml" Id="Rebd4cfeab37342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6abc6797b54a66" /><Relationship Type="http://schemas.openxmlformats.org/officeDocument/2006/relationships/notesMaster" Target="/ppt/notesMasters/notesMaster1.xml" Id="Raa0579a24b3e48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6a8a2a205949d2" /><Relationship Type="http://schemas.openxmlformats.org/officeDocument/2006/relationships/notesMaster" Target="/ppt/notesMasters/notesMaster1.xml" Id="R0ad38ca5665c496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2433ec6ac524de9" /><Relationship Type="http://schemas.openxmlformats.org/officeDocument/2006/relationships/notesMaster" Target="/ppt/notesMasters/notesMaster1.xml" Id="Rb0003a0568c140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67fc58210747ea" /><Relationship Type="http://schemas.openxmlformats.org/officeDocument/2006/relationships/notesMaster" Target="/ppt/notesMasters/notesMaster1.xml" Id="R70789b944d65451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6789b02ebb942a7" /><Relationship Type="http://schemas.openxmlformats.org/officeDocument/2006/relationships/notesMaster" Target="/ppt/notesMasters/notesMaster1.xml" Id="Rb1e100fc32654ec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64451f8914e4f90" /><Relationship Type="http://schemas.openxmlformats.org/officeDocument/2006/relationships/notesMaster" Target="/ppt/notesMasters/notesMaster1.xml" Id="Rb5b7ab22ec674e6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c51a1c5fb1f4059" /><Relationship Type="http://schemas.openxmlformats.org/officeDocument/2006/relationships/notesMaster" Target="/ppt/notesMasters/notesMaster1.xml" Id="R395e5361512b4f6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cf29a94908d4ed4" /><Relationship Type="http://schemas.openxmlformats.org/officeDocument/2006/relationships/notesMaster" Target="/ppt/notesMasters/notesMaster1.xml" Id="R5a02712f0b3a463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676bbf8a92748b1" /><Relationship Type="http://schemas.openxmlformats.org/officeDocument/2006/relationships/notesMaster" Target="/ppt/notesMasters/notesMaster1.xml" Id="R6d6bd5cb952f4d9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7546ce376ba49d4" /><Relationship Type="http://schemas.openxmlformats.org/officeDocument/2006/relationships/notesMaster" Target="/ppt/notesMasters/notesMaster1.xml" Id="R0211a83de1b0456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82cdcf47ee74cfb" /><Relationship Type="http://schemas.openxmlformats.org/officeDocument/2006/relationships/notesMaster" Target="/ppt/notesMasters/notesMaster1.xml" Id="R8f7e2873211847f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43d0c0ae1ae460a" /><Relationship Type="http://schemas.openxmlformats.org/officeDocument/2006/relationships/notesMaster" Target="/ppt/notesMasters/notesMaster1.xml" Id="R31048a0d01694a3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f700bdb542f4bff" /><Relationship Type="http://schemas.openxmlformats.org/officeDocument/2006/relationships/notesMaster" Target="/ppt/notesMasters/notesMaster1.xml" Id="R588cebca926c466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e7eb3d84a764361" /><Relationship Type="http://schemas.openxmlformats.org/officeDocument/2006/relationships/notesMaster" Target="/ppt/notesMasters/notesMaster1.xml" Id="Rb95fb26784ba404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a1a9e7fb42c4547" /><Relationship Type="http://schemas.openxmlformats.org/officeDocument/2006/relationships/notesMaster" Target="/ppt/notesMasters/notesMaster1.xml" Id="Rbce5b1dcfdc74b8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5ad374cfd624bb4" /><Relationship Type="http://schemas.openxmlformats.org/officeDocument/2006/relationships/notesMaster" Target="/ppt/notesMasters/notesMaster1.xml" Id="R6e2278c540954f0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fff7eb7191044d0" /><Relationship Type="http://schemas.openxmlformats.org/officeDocument/2006/relationships/notesMaster" Target="/ppt/notesMasters/notesMaster1.xml" Id="Rb5ad037b61a84d1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53f5667729e4261" /><Relationship Type="http://schemas.openxmlformats.org/officeDocument/2006/relationships/notesMaster" Target="/ppt/notesMasters/notesMaster1.xml" Id="R62bb93d355194ca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01675ff52464991" /><Relationship Type="http://schemas.openxmlformats.org/officeDocument/2006/relationships/notesMaster" Target="/ppt/notesMasters/notesMaster1.xml" Id="R2588415a693c438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39d5f9d4d7d4d76" /><Relationship Type="http://schemas.openxmlformats.org/officeDocument/2006/relationships/notesMaster" Target="/ppt/notesMasters/notesMaster1.xml" Id="Rb71498b84209469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46315e51be244c2" /><Relationship Type="http://schemas.openxmlformats.org/officeDocument/2006/relationships/notesMaster" Target="/ppt/notesMasters/notesMaster1.xml" Id="R8e9f079583b145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Salamlaşma. Bu təqdimat universitetin imtahan proseslərini tam rəqəmsallaşdıran hazır platformanı təqdim edir. 20 dəqiqə.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Dörd bölmə: rollar, hazırlıq, imtahan günü, nəticə və etibarlılıq. Sonda faydalar və tətbiq təklifi.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Bunlar universitetlərin ənənəvi imtahan prosesində üzləşdiyi tipik problemlərdir. Hər birinin sistemdə birbaşa qarşılığı var.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Sistem hazır məhsuldur, sıfırdan yazılmır. Rəqəmlər: təxminən min imtahan artıq keçirilib, dörd dil, on beş rol, iki mindən artıq avtomatik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Yeddi mərhələ. Diqqət: hər mərhələ audit jurnalında iz qoyur — bu, sonrakı təhlükəsizlik bölməsinin əsasıdır.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Keçid: birinci bölmə — rollar.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Rollar üç qrupa bölünür. Vacib nöqtə: səlahiyyət ayrılığı — imtahan mərkəzi üzv idarəetməsinə müdaxilə etmir.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Cədvəl sənədin birinci cədvəlinin sadələşdirilmiş formasıdır. Diqqət: dekan öz fakültəsi, kafedra müdiri öz kafedrası ilə məhduddur.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Keçid: ikinci bölmə — imtahan necə hazırlanır.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Ekran real interfeysdir. Bankdakı sual imtahana snapshot kimi köçürülür — bankda sonradan edilən dəyişiklik keçirilmiş imtahanın nəticəsinə təsir etmir.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Bu, müəllim üçün ən çox vaxt qazandıran funksiyadır: yüzlərlə sual bir PDF-dən idxal olunur, düzgün cavab rənglə işarələnibsə avtomatik tanınır.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İmtahan yaratma sehrbaz formasındadır: əsas məlumat, suallar, parametrlər, təsdiq və dərc. Nəzarət səviyyəsi üçün hazır profillər var.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Keçid: üçüncü bölmə — imtahan günü. Bu, təqdimatın ən vacib hissəsidir.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İmtahan Mərkəzi bütün final oturumlarını vahid paneldən idarə edir. Zal, nəzarətçi, iştirakçı sayı və canlı nəzarətə keçid bir ekranda.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PIN yalnız bir imtahan və bir tələbə üçün etibarlıdır. Bazada açıq saxlanılmır. İmtahan bitdikdə avtomatik etibarsız olur.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Ən çox sual doğuran hissə: internet kəsilsə nə olur? Cavablar avtomatik saxlanılır və bağlantı bərpa olunanda sinxronlaşır — cavab itmir.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Nəzarətçi və imtahan mərkəzi eyni mənzərəni görür. Hər xana bir tələbədir; rəng vəziyyəti və pozuntu səviyyəsini göstərir.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Keçid: dördüncü bölmə — nəticə, apellyasiya və sistemin etibarlılığı.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Vacib nüans: nəticə tələbəyə faktiki verilən suallar üzrə hesablanır. 500-lük bankdan 50 sual verilibsə, bal həmin 50 sual üzrədir.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Kağız ərizə əvəzinə izlənilən elektron proses. Eyni sual üzrə qəbul edilmiş apellyasiyalarda bal düzəlişi toplu tətbiq oluna bilər.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Ən vacib texniki üstünlük: məlumat ayrılığı təkcə proqram qatında deyil, verilənlər bazası səviyyəsində məcburidir.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slayd İT şöbəsi üçündür. Sistem konteyner infrastrukturunda işləyir, yük testləri ilə yoxlanılıb.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slaydda dayanın. Rəhbərlik üçün ən vacib hissə budur — hər maddəni bir cümlə ilə izah edin.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Səmimi olun: nə hazırdır, nə davam edir, nə planlaşdırılır. Bu, etibar qazandırır.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Yekun: konkret təklif — bir semestrlik pilot, seçilmiş fakültə üzrə. Sualları burada qəbul edin.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d677382f684c2e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e42d2717624963" /><Relationship Type="http://schemas.openxmlformats.org/officeDocument/2006/relationships/slideLayout" Target="/ppt/slideLayouts/slideLayout1.xml" Id="Rfdc05d1fb3b449f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c05d1fb3b449fa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87502561a34ed0" /><Relationship Type="http://schemas.openxmlformats.org/officeDocument/2006/relationships/notesSlide" Target="/ppt/notesSlides/notesSlide1.xml" Id="R882995f70a3043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5388fb1e254bf9" /><Relationship Type="http://schemas.openxmlformats.org/officeDocument/2006/relationships/notesSlide" Target="/ppt/notesSlides/notesSlide2.xml" Id="R8b0427493e6443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6b38c8f82e4cdf" /><Relationship Type="http://schemas.openxmlformats.org/officeDocument/2006/relationships/notesSlide" Target="/ppt/notesSlides/notesSlide3.xml" Id="R378f24403a254e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589504a07443ee" /><Relationship Type="http://schemas.openxmlformats.org/officeDocument/2006/relationships/notesSlide" Target="/ppt/notesSlides/notesSlide4.xml" Id="R464a464dbf05429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70076005ab45a4" /><Relationship Type="http://schemas.openxmlformats.org/officeDocument/2006/relationships/notesSlide" Target="/ppt/notesSlides/notesSlide5.xml" Id="R7a8f1082ad2442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2ea06524834581" /><Relationship Type="http://schemas.openxmlformats.org/officeDocument/2006/relationships/notesSlide" Target="/ppt/notesSlides/notesSlide6.xml" Id="Rf55172419e91453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978f7f8ab648f3" /><Relationship Type="http://schemas.openxmlformats.org/officeDocument/2006/relationships/notesSlide" Target="/ppt/notesSlides/notesSlide7.xml" Id="R105f5d04b1da4a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faf8dd44824969" /><Relationship Type="http://schemas.openxmlformats.org/officeDocument/2006/relationships/notesSlide" Target="/ppt/notesSlides/notesSlide8.xml" Id="R79930ee6950148b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52890afc744299" /><Relationship Type="http://schemas.openxmlformats.org/officeDocument/2006/relationships/notesSlide" Target="/ppt/notesSlides/notesSlide9.xml" Id="Rcbca6371d532410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47757f25204a4d" /><Relationship Type="http://schemas.openxmlformats.org/officeDocument/2006/relationships/image" Target="/ppt/media/image.png" Id="Rc77aa94e891a4abe" /><Relationship Type="http://schemas.openxmlformats.org/officeDocument/2006/relationships/notesSlide" Target="/ppt/notesSlides/notesSlide10.xml" Id="Rb1f935abae704bc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98bb2db34f4bb0" /><Relationship Type="http://schemas.openxmlformats.org/officeDocument/2006/relationships/notesSlide" Target="/ppt/notesSlides/notesSlide11.xml" Id="Re4b50267f1d841e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8a46a914824672" /><Relationship Type="http://schemas.openxmlformats.org/officeDocument/2006/relationships/notesSlide" Target="/ppt/notesSlides/notesSlide12.xml" Id="R6ea23df780bc4b4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9e1a6b33b74931" /><Relationship Type="http://schemas.openxmlformats.org/officeDocument/2006/relationships/notesSlide" Target="/ppt/notesSlides/notesSlide13.xml" Id="R10c581fad2ed44b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9a5c671ede4c68" /><Relationship Type="http://schemas.openxmlformats.org/officeDocument/2006/relationships/image" Target="/ppt/media/image2.png" Id="R895f4c8c5959451f" /><Relationship Type="http://schemas.openxmlformats.org/officeDocument/2006/relationships/notesSlide" Target="/ppt/notesSlides/notesSlide14.xml" Id="Rfa6cbb9194114de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86d43735e04f32" /><Relationship Type="http://schemas.openxmlformats.org/officeDocument/2006/relationships/image" Target="/ppt/media/image3.png" Id="Rdefa4196f3654495" /><Relationship Type="http://schemas.openxmlformats.org/officeDocument/2006/relationships/notesSlide" Target="/ppt/notesSlides/notesSlide15.xml" Id="R2e9af7e759ba4c8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12a77436994bfd" /><Relationship Type="http://schemas.openxmlformats.org/officeDocument/2006/relationships/image" Target="/ppt/media/image4.png" Id="R9b5fbb1fb7e14432" /><Relationship Type="http://schemas.openxmlformats.org/officeDocument/2006/relationships/notesSlide" Target="/ppt/notesSlides/notesSlide16.xml" Id="R222eb467d6064a0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9010fe59d451a" /><Relationship Type="http://schemas.openxmlformats.org/officeDocument/2006/relationships/image" Target="/ppt/media/image5.png" Id="R993c96264f6b44af" /><Relationship Type="http://schemas.openxmlformats.org/officeDocument/2006/relationships/notesSlide" Target="/ppt/notesSlides/notesSlide17.xml" Id="R65f812369a68457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6fd32cad864d5b" /><Relationship Type="http://schemas.openxmlformats.org/officeDocument/2006/relationships/notesSlide" Target="/ppt/notesSlides/notesSlide18.xml" Id="R39745e5928e54e1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f4cfa5e82c4b7a" /><Relationship Type="http://schemas.openxmlformats.org/officeDocument/2006/relationships/image" Target="/ppt/media/image6.png" Id="R17e7b57fb9c84772" /><Relationship Type="http://schemas.openxmlformats.org/officeDocument/2006/relationships/notesSlide" Target="/ppt/notesSlides/notesSlide19.xml" Id="R837615c4fdb34bf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9e16eba4b64eed" /><Relationship Type="http://schemas.openxmlformats.org/officeDocument/2006/relationships/notesSlide" Target="/ppt/notesSlides/notesSlide20.xml" Id="Rcd2319286e78475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8bc5e494f840fb" /><Relationship Type="http://schemas.openxmlformats.org/officeDocument/2006/relationships/notesSlide" Target="/ppt/notesSlides/notesSlide21.xml" Id="Rd5ca9de06a764c6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dfd141339a4839" /><Relationship Type="http://schemas.openxmlformats.org/officeDocument/2006/relationships/notesSlide" Target="/ppt/notesSlides/notesSlide22.xml" Id="Raec92155038f41b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da8db643ba4a4d" /><Relationship Type="http://schemas.openxmlformats.org/officeDocument/2006/relationships/notesSlide" Target="/ppt/notesSlides/notesSlide23.xml" Id="Ree853463c9034a9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456acfb5ae4bc3" /><Relationship Type="http://schemas.openxmlformats.org/officeDocument/2006/relationships/notesSlide" Target="/ppt/notesSlides/notesSlide24.xml" Id="Re1a57392a7174ab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af9486afee4244" /><Relationship Type="http://schemas.openxmlformats.org/officeDocument/2006/relationships/notesSlide" Target="/ppt/notesSlides/notesSlide25.xml" Id="R5aa5b89d763842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D2D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A5C2C5E-FBB7-470A-86D0-0FF7726E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81931"/>
            <a:ext cx="609575" cy="609575"/>
          </a:xfrm>
          <a:prstGeom xmlns:a="http://schemas.openxmlformats.org/drawingml/2006/main" prst="rect">
            <a:avLst/>
          </a:prstGeom>
          <a:ln xmlns:a="http://schemas.openxmlformats.org/drawingml/2006/main" w="7937">
            <a:solidFill>
              <a:srgbClr val="F2F2F3">
                <a:alpha val="40000"/>
              </a:srgbClr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7BAE74F-815D-4AE1-8029-9B873906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936" y="889868"/>
            <a:ext cx="1098551" cy="631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35273"/>
              </a:lnSpc>
              <a:buNone/>
            </a:pPr>
            <a:r>
              <a:rPr sz="2100" b="1">
                <a:solidFill>
                  <a:srgbClr val="F2F2F3"/>
                </a:solidFill>
                <a:latin typeface="Arial"/>
                <a:ea typeface="Arial"/>
                <a:cs typeface="Arial"/>
              </a:rPr>
              <a:t>GAU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D9F3134-81E2-4694-B71F-655BDCEF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25" y="838150"/>
            <a:ext cx="2707915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7805"/>
              </a:lnSpc>
              <a:buNone/>
            </a:pPr>
            <a:r>
              <a:rPr sz="2250" b="1">
                <a:solidFill>
                  <a:srgbClr val="F2F2F3"/>
                </a:solidFill>
                <a:latin typeface="Arial"/>
                <a:ea typeface="Arial"/>
                <a:cs typeface="Arial"/>
              </a:rPr>
              <a:t>Gəncə Aqrar Universiteti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D4D4E78-9E35-4647-A617-75307E36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24" y="1410773"/>
            <a:ext cx="2707915" cy="3923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1800">
                <a:solidFill>
                  <a:srgbClr val="94BCE3"/>
                </a:solidFill>
                <a:latin typeface="Arial"/>
                <a:ea typeface="Arial"/>
                <a:cs typeface="Arial"/>
              </a:rPr>
              <a:t>TƏQDIMAT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EF5EC48-5685-49FF-9524-0574F71E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3419" y="838150"/>
            <a:ext cx="2625514" cy="3923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1800" b="1">
                <a:solidFill>
                  <a:srgbClr val="94BCE3"/>
                </a:solidFill>
                <a:latin typeface="Arial"/>
                <a:ea typeface="Arial"/>
                <a:cs typeface="Arial"/>
              </a:rPr>
              <a:t>EMSARENA PLATFORMASI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BF0BB73-737D-4298-AA71-A1FC3C03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48112"/>
            <a:ext cx="16678275" cy="2788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2711"/>
              </a:lnSpc>
              <a:buNone/>
            </a:pPr>
            <a:r>
              <a:rPr sz="11400" b="1">
                <a:solidFill>
                  <a:srgbClr val="F2F2F3"/>
                </a:solidFill>
                <a:latin typeface="Arial"/>
                <a:ea typeface="Arial"/>
                <a:cs typeface="Arial"/>
              </a:rPr>
              <a:t>Elektron İmtahan Sistemi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04CECD1-6869-44C5-9987-911DB41C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79827"/>
            <a:ext cx="10988040" cy="107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3948"/>
              </a:lnSpc>
              <a:buNone/>
            </a:pPr>
            <a:r>
              <a:rPr sz="3150">
                <a:solidFill>
                  <a:srgbClr val="D6EBFF"/>
                </a:solidFill>
                <a:latin typeface="Arial"/>
                <a:ea typeface="Arial"/>
                <a:cs typeface="Arial"/>
              </a:rPr>
              <a:t>İmtahanın planlaşdırılmasından apellyasiyaya qədər bütün mərhələlər vahid, təhlükəsiz və izlənilə bilən mühitdə.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D7EA409-27C0-4937-9193-DDC3327B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132652"/>
            <a:ext cx="1817601" cy="3923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1800">
                <a:solidFill>
                  <a:srgbClr val="F2F2F3">
                    <a:alpha val="60000"/>
                  </a:srgbClr>
                </a:solidFill>
                <a:latin typeface="Arial"/>
                <a:ea typeface="Arial"/>
                <a:cs typeface="Arial"/>
              </a:rPr>
              <a:t>Funksional icmal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B9C1BD3-D29B-4C8F-935E-792EA675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977" y="9132652"/>
            <a:ext cx="953604" cy="3923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1800">
                <a:solidFill>
                  <a:srgbClr val="F2F2F3">
                    <a:alpha val="60000"/>
                  </a:srgbClr>
                </a:solidFill>
                <a:latin typeface="Arial"/>
                <a:ea typeface="Arial"/>
                <a:cs typeface="Arial"/>
              </a:rPr>
              <a:t>İyul 2026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E9ACA25-416B-4DBD-8643-396DF2D7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3244" y="9132652"/>
            <a:ext cx="1102618" cy="3923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1800">
                <a:solidFill>
                  <a:srgbClr val="F2F2F3">
                    <a:alpha val="60000"/>
                  </a:srgbClr>
                </a:solidFill>
                <a:latin typeface="Arial"/>
                <a:ea typeface="Arial"/>
                <a:cs typeface="Arial"/>
              </a:rPr>
              <a:t>Versiya 1.0</a:t>
            </a:r>
          </a:p>
        </p:txBody>
      </p:sp>
    </p:spTree>
    <p:extLst>
      <p:ext uri="{BB962C8B-B14F-4D97-AF65-F5344CB8AC3E}">
        <p14:creationId xmlns:p14="http://schemas.microsoft.com/office/powerpoint/2010/main" val="8802867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2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AD68060-DA66-4974-B9C3-0B4316FB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38150"/>
            <a:ext cx="17811750" cy="3923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18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MÜNDƏRICAT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1B41ACC-B134-427B-971F-FD919C5F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25748"/>
            <a:ext cx="17811750" cy="8191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7080"/>
              </a:lnSpc>
              <a:buNone/>
            </a:pPr>
            <a:r>
              <a:rPr sz="615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Təqdimatın quruluşu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E01DD98-2DB7-4357-B547-946F4A1B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25861"/>
            <a:ext cx="1619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02D6F85-D1BD-4CB3-B728-79AE8CED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38364"/>
            <a:ext cx="1619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6A87327-BD9F-40ED-B257-E4692DEF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28243"/>
            <a:ext cx="1219200" cy="5105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3753"/>
              </a:lnSpc>
              <a:buNone/>
            </a:pPr>
            <a:r>
              <a:rPr sz="24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01DC397-FD73-44BB-9308-5FA2BEF7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38" y="2973462"/>
            <a:ext cx="11483367" cy="7172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4740"/>
              </a:lnSpc>
              <a:buNone/>
            </a:pPr>
            <a:r>
              <a:rPr sz="345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Rollar və səlahiyyətlər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FD15502-D0B9-41C8-97C6-6B7D81A0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3171899"/>
            <a:ext cx="4400550" cy="4514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>
                <a:solidFill>
                  <a:srgbClr val="5D5D60"/>
                </a:solidFill>
                <a:latin typeface="Arial"/>
                <a:ea typeface="Arial"/>
                <a:cs typeface="Arial"/>
              </a:rPr>
              <a:t>Kim nəyi görür və dəyişə bilir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BE8F942-DC27-4B15-B438-EB28936B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96954"/>
            <a:ext cx="1619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D3F1F14-2DA3-4B14-9434-5517409F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86833"/>
            <a:ext cx="1219200" cy="5105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3753"/>
              </a:lnSpc>
              <a:buNone/>
            </a:pPr>
            <a:r>
              <a:rPr sz="24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E3C3339-3115-4735-8EA6-1614496D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38" y="4232052"/>
            <a:ext cx="11483367" cy="7172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4740"/>
              </a:lnSpc>
              <a:buNone/>
            </a:pPr>
            <a:r>
              <a:rPr sz="345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İmtahanın hazırlanması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DF9B19E-44B0-4EEA-BFCD-F0C45B57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4430489"/>
            <a:ext cx="4400550" cy="4514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>
                <a:solidFill>
                  <a:srgbClr val="5D5D60"/>
                </a:solidFill>
                <a:latin typeface="Arial"/>
                <a:ea typeface="Arial"/>
                <a:cs typeface="Arial"/>
              </a:rPr>
              <a:t>Sual bankı, idxal, parametrlər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FF8FFAFC-5925-467B-8C22-FBD79DB9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455544"/>
            <a:ext cx="1619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54D0DF8-6FD7-4C69-B185-C1B76135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45423"/>
            <a:ext cx="1219200" cy="5105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3753"/>
              </a:lnSpc>
              <a:buNone/>
            </a:pPr>
            <a:r>
              <a:rPr sz="24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91DAFA50-9DC1-4692-A7BC-60EB58C8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38" y="5490642"/>
            <a:ext cx="11483367" cy="7172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4740"/>
              </a:lnSpc>
              <a:buNone/>
            </a:pPr>
            <a:r>
              <a:rPr sz="345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İmtahan günü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85DDCD1-5202-4A13-A791-B8EBC5FB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5689079"/>
            <a:ext cx="4400550" cy="4514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>
                <a:solidFill>
                  <a:srgbClr val="5D5D60"/>
                </a:solidFill>
                <a:latin typeface="Arial"/>
                <a:ea typeface="Arial"/>
                <a:cs typeface="Arial"/>
              </a:rPr>
              <a:t>Zal, PIN, imtahan, canlı nəzarət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7894A2A4-24E4-470C-B29C-DE1E8A3C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060159"/>
            <a:ext cx="1619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03D3E48-0BA5-44AF-9A13-4DB224DA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904012"/>
            <a:ext cx="1219200" cy="5105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3753"/>
              </a:lnSpc>
              <a:buNone/>
            </a:pPr>
            <a:r>
              <a:rPr sz="24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3C4A5BD-07B3-401F-9B7C-7FF7B0CC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38" y="6749231"/>
            <a:ext cx="11483367" cy="7172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4740"/>
              </a:lnSpc>
              <a:buNone/>
            </a:pPr>
            <a:r>
              <a:rPr sz="345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Nəticə, apellyasiya, etibarlılıq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D087991-5092-4172-B921-8E120AAF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6947669"/>
            <a:ext cx="4120515" cy="864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>
                <a:solidFill>
                  <a:srgbClr val="5D5D60"/>
                </a:solidFill>
                <a:latin typeface="Arial"/>
                <a:ea typeface="Arial"/>
                <a:cs typeface="Arial"/>
              </a:rPr>
              <a:t>Qiymətləndirmə, təhlükəsizlik, audit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9B49189-0E02-44F6-A286-CCF48775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08628"/>
            <a:ext cx="1219200" cy="5105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3753"/>
              </a:lnSpc>
              <a:buNone/>
            </a:pPr>
            <a:r>
              <a:rPr sz="24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B517FE5-6CF5-417A-9C6E-1698D112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38" y="8353846"/>
            <a:ext cx="11483367" cy="7172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4740"/>
              </a:lnSpc>
              <a:buNone/>
            </a:pPr>
            <a:r>
              <a:rPr sz="345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Faydalar və tətbiq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048CE1FB-9F10-4EEC-BCDF-86926857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8552284"/>
            <a:ext cx="4400550" cy="4514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>
                <a:solidFill>
                  <a:srgbClr val="5D5D60"/>
                </a:solidFill>
                <a:latin typeface="Arial"/>
                <a:ea typeface="Arial"/>
                <a:cs typeface="Arial"/>
              </a:rPr>
              <a:t>Yol xəritəsi və pilot təklifi</a:t>
            </a:r>
          </a:p>
        </p:txBody>
      </p:sp>
    </p:spTree>
    <p:extLst>
      <p:ext uri="{BB962C8B-B14F-4D97-AF65-F5344CB8AC3E}">
        <p14:creationId xmlns:p14="http://schemas.microsoft.com/office/powerpoint/2010/main" val="7867968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2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7C8383F-2E74-4423-BD3B-4925613E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38150"/>
            <a:ext cx="17811750" cy="3923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18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BAŞLANĞIC NÖQTƏSI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E8EAA56-06F5-48FF-A08F-8E4AF585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25748"/>
            <a:ext cx="17811750" cy="8191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7080"/>
              </a:lnSpc>
              <a:buNone/>
            </a:pPr>
            <a:r>
              <a:rPr sz="615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Kağız əsaslı imtahanın çətinlikləri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08365A0-6B7F-47CA-BF3E-4ED36799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25861"/>
            <a:ext cx="1619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870765C-3E70-4B2D-914C-8AC902F1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30637"/>
            <a:ext cx="7886712" cy="3018606"/>
          </a:xfrm>
          <a:prstGeom xmlns:a="http://schemas.openxmlformats.org/drawingml/2006/main" prst="rect">
            <a:avLst/>
          </a:prstGeom>
          <a:ln xmlns:a="http://schemas.openxmlformats.org/drawingml/2006/main" w="7937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C25FC45-FE43-46A4-94D2-BBDA782C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838" y="3788606"/>
            <a:ext cx="7652190" cy="5501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7745"/>
              </a:lnSpc>
              <a:buNone/>
            </a:pPr>
            <a:r>
              <a:rPr sz="360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Çap və logistika yükü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5A056AC-714A-4761-B398-7C20D0F1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838" y="4491137"/>
            <a:ext cx="7165233" cy="838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927"/>
              </a:lnSpc>
              <a:buNone/>
            </a:pPr>
            <a:r>
              <a:rPr sz="2250">
                <a:solidFill>
                  <a:srgbClr val="424244"/>
                </a:solidFill>
                <a:latin typeface="Arial"/>
                <a:ea typeface="Arial"/>
                <a:cs typeface="Arial"/>
              </a:rPr>
              <a:t>Suallar, cavab vərəqləri və protokollar hər sessiyada yenidən hazırlanır, çap olunur və saxlanılır.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CC95F86-499A-4970-9301-2FDF25A6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37" y="3030637"/>
            <a:ext cx="7886712" cy="3018606"/>
          </a:xfrm>
          <a:prstGeom xmlns:a="http://schemas.openxmlformats.org/drawingml/2006/main" prst="rect">
            <a:avLst/>
          </a:prstGeom>
          <a:ln xmlns:a="http://schemas.openxmlformats.org/drawingml/2006/main" w="7937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22309D4-F046-4B19-8E0B-0A4FE5C78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8625" y="3788606"/>
            <a:ext cx="7652190" cy="5501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7745"/>
              </a:lnSpc>
              <a:buNone/>
            </a:pPr>
            <a:r>
              <a:rPr sz="360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Gecikən nəticələr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9C99EE1-92BF-4AAD-A502-0EE0EEAE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8625" y="4491137"/>
            <a:ext cx="7165233" cy="838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927"/>
              </a:lnSpc>
              <a:buNone/>
            </a:pPr>
            <a:r>
              <a:rPr sz="2250">
                <a:solidFill>
                  <a:srgbClr val="424244"/>
                </a:solidFill>
                <a:latin typeface="Arial"/>
                <a:ea typeface="Arial"/>
                <a:cs typeface="Arial"/>
              </a:rPr>
              <a:t>Əl ilə yoxlama günlər aparır; hesablama səhvləri və təkrar yoxlama tələbləri qaçılmaz olur.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FDCA7E0-ED6F-45C3-9A34-AB6A3049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468318"/>
            <a:ext cx="7886712" cy="3018606"/>
          </a:xfrm>
          <a:prstGeom xmlns:a="http://schemas.openxmlformats.org/drawingml/2006/main" prst="rect">
            <a:avLst/>
          </a:prstGeom>
          <a:ln xmlns:a="http://schemas.openxmlformats.org/drawingml/2006/main" w="7937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6E0DA16-D78D-4B96-8594-BE64C8FC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838" y="7226287"/>
            <a:ext cx="7652190" cy="5501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7745"/>
              </a:lnSpc>
              <a:buNone/>
            </a:pPr>
            <a:r>
              <a:rPr sz="360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Zəif izlənilirlik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399BF02-6A0F-4078-918D-EBF1663F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838" y="7928818"/>
            <a:ext cx="7165233" cy="838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927"/>
              </a:lnSpc>
              <a:buNone/>
            </a:pPr>
            <a:r>
              <a:rPr sz="2250">
                <a:solidFill>
                  <a:srgbClr val="424244"/>
                </a:solidFill>
                <a:latin typeface="Arial"/>
                <a:ea typeface="Arial"/>
                <a:cs typeface="Arial"/>
              </a:rPr>
              <a:t>Balın kim tərəfindən, nə vaxt və hansı əsasla dəyişdirildiyi mübahisə halında sübut oluna bilmir.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A462C027-310D-4747-B96E-03656B5C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37" y="6468318"/>
            <a:ext cx="7886712" cy="3018606"/>
          </a:xfrm>
          <a:prstGeom xmlns:a="http://schemas.openxmlformats.org/drawingml/2006/main" prst="rect">
            <a:avLst/>
          </a:prstGeom>
          <a:ln xmlns:a="http://schemas.openxmlformats.org/drawingml/2006/main" w="7937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EFEE8C5-6D8D-431E-B8EA-8307F6BE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8625" y="7226287"/>
            <a:ext cx="7652190" cy="5501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7745"/>
              </a:lnSpc>
              <a:buNone/>
            </a:pPr>
            <a:r>
              <a:rPr sz="360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Dağınıq məlumat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C04C32D-CF9C-4543-AF70-FB9A1F2A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8625" y="7928818"/>
            <a:ext cx="7165233" cy="838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927"/>
              </a:lnSpc>
              <a:buNone/>
            </a:pPr>
            <a:r>
              <a:rPr sz="2250">
                <a:solidFill>
                  <a:srgbClr val="424244"/>
                </a:solidFill>
                <a:latin typeface="Arial"/>
                <a:ea typeface="Arial"/>
                <a:cs typeface="Arial"/>
              </a:rPr>
              <a:t>Siyahılar, nəticələr və apellyasiyalar ayrı-ayrı fayllarda qalır; ümumi mənzərə yığılmır.</a:t>
            </a:r>
          </a:p>
        </p:txBody>
      </p:sp>
    </p:spTree>
    <p:extLst>
      <p:ext uri="{BB962C8B-B14F-4D97-AF65-F5344CB8AC3E}">
        <p14:creationId xmlns:p14="http://schemas.microsoft.com/office/powerpoint/2010/main" val="14877397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2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D46138C-9A22-4553-A6E4-ADBB8729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38150"/>
            <a:ext cx="17811750" cy="3923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18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İCMAL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C2E82A4-A967-4E39-95B5-C2D8C961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25748"/>
            <a:ext cx="17811750" cy="8191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7080"/>
              </a:lnSpc>
              <a:buNone/>
            </a:pPr>
            <a:r>
              <a:rPr sz="615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Sistem bir baxışda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45BC14B-4A4F-4F91-A22D-7085D635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25861"/>
            <a:ext cx="1619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7B5900C-6B53-4CC2-A713-845AD32A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86052"/>
            <a:ext cx="14912340" cy="12725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7818"/>
              </a:lnSpc>
              <a:buNone/>
            </a:pPr>
            <a:r>
              <a:rPr sz="3600">
                <a:solidFill>
                  <a:srgbClr val="1D1F20"/>
                </a:solidFill>
                <a:latin typeface="Arial"/>
                <a:ea typeface="Arial"/>
                <a:cs typeface="Arial"/>
              </a:rPr>
              <a:t>Universitetin imtahan həyat dövrünü — struktur, sual bankı, imtahan, zal, nəzarət, nəticə və apellyasiya — bir platformada birləşdirən veb sistemdir.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60D2EE0-C3BD-4080-AA19-87A47521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671221"/>
            <a:ext cx="1619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AFC4522E-B9E4-4EDB-9486-EEAAD534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7938" y="7679159"/>
            <a:ext cx="9525" cy="1807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1CD8983-0E9A-4864-BE55-BA72BD4D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098234"/>
            <a:ext cx="4025106" cy="86105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77955"/>
              </a:lnSpc>
              <a:buNone/>
            </a:pPr>
            <a:r>
              <a:rPr sz="7200" b="1">
                <a:solidFill>
                  <a:srgbClr val="416180"/>
                </a:solidFill>
                <a:latin typeface="Arial"/>
                <a:ea typeface="Arial"/>
                <a:cs typeface="Arial"/>
              </a:rPr>
              <a:t>≈1 000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84A27EB-8FC5-4D60-AE3B-4D1FDEC3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073554"/>
            <a:ext cx="4025106" cy="4514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>
                <a:solidFill>
                  <a:srgbClr val="5D5D60"/>
                </a:solidFill>
                <a:latin typeface="Arial"/>
                <a:ea typeface="Arial"/>
                <a:cs typeface="Arial"/>
              </a:rPr>
              <a:t>keçirilmiş imtahan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D7CE41C-91A2-4528-8BBE-5A4CB3B0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6063" y="7679159"/>
            <a:ext cx="9525" cy="1807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0DABB9A-450C-49D9-84A9-1BD5406A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8098234"/>
            <a:ext cx="3606006" cy="86105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77955"/>
              </a:lnSpc>
              <a:buNone/>
            </a:pPr>
            <a:r>
              <a:rPr sz="7200" b="1">
                <a:solidFill>
                  <a:srgbClr val="41618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46C88F5-038B-4BE3-96AE-A2701112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9073554"/>
            <a:ext cx="3606006" cy="4514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>
                <a:solidFill>
                  <a:srgbClr val="5D5D60"/>
                </a:solidFill>
                <a:latin typeface="Arial"/>
                <a:ea typeface="Arial"/>
                <a:cs typeface="Arial"/>
              </a:rPr>
              <a:t>istifadəçi rolu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C680963-D209-445A-88C6-AD16D915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4188" y="7679159"/>
            <a:ext cx="9525" cy="18077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F46AB65-C3FC-4BB2-BA56-11708995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098234"/>
            <a:ext cx="3606006" cy="86105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77955"/>
              </a:lnSpc>
              <a:buNone/>
            </a:pPr>
            <a:r>
              <a:rPr sz="7200" b="1">
                <a:solidFill>
                  <a:srgbClr val="41618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03FF264-6C40-481D-886D-518AF0C1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9073554"/>
            <a:ext cx="3606006" cy="4514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>
                <a:solidFill>
                  <a:srgbClr val="5D5D60"/>
                </a:solidFill>
                <a:latin typeface="Arial"/>
                <a:ea typeface="Arial"/>
                <a:cs typeface="Arial"/>
              </a:rPr>
              <a:t>interfeys dili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95578A1-6033-466B-A8E8-4378704F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8098234"/>
            <a:ext cx="4033838" cy="86105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77955"/>
              </a:lnSpc>
              <a:buNone/>
            </a:pPr>
            <a:r>
              <a:rPr sz="7200" b="1">
                <a:solidFill>
                  <a:srgbClr val="416180"/>
                </a:solidFill>
                <a:latin typeface="Arial"/>
                <a:ea typeface="Arial"/>
                <a:cs typeface="Arial"/>
              </a:rPr>
              <a:t>2 000+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3E6F31B-8361-4596-A5A3-59E15E8E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9073554"/>
            <a:ext cx="4033838" cy="4514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>
                <a:solidFill>
                  <a:srgbClr val="5D5D60"/>
                </a:solidFill>
                <a:latin typeface="Arial"/>
                <a:ea typeface="Arial"/>
                <a:cs typeface="Arial"/>
              </a:rPr>
              <a:t>avtomatik test ssenarisi</a:t>
            </a:r>
          </a:p>
        </p:txBody>
      </p:sp>
    </p:spTree>
    <p:extLst>
      <p:ext uri="{BB962C8B-B14F-4D97-AF65-F5344CB8AC3E}">
        <p14:creationId xmlns:p14="http://schemas.microsoft.com/office/powerpoint/2010/main" val="13037510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2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F09D2DC-6F74-4995-AC26-4F94D321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38150"/>
            <a:ext cx="17811750" cy="3923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18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PROSES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2F5E4FE-7FA4-4D35-9746-09F772E0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25748"/>
            <a:ext cx="17811750" cy="8191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7080"/>
              </a:lnSpc>
              <a:buNone/>
            </a:pPr>
            <a:r>
              <a:rPr sz="615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İmtahanın tam həyat dövrü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698EDC5-06C2-45E6-A10C-F87B99AE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25861"/>
            <a:ext cx="1619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ABC51EC-8168-4089-B508-931DEBD1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68712"/>
            <a:ext cx="2028775" cy="4953000"/>
          </a:xfrm>
          <a:prstGeom xmlns:a="http://schemas.openxmlformats.org/drawingml/2006/main" prst="rect">
            <a:avLst/>
          </a:prstGeom>
          <a:ln xmlns:a="http://schemas.openxmlformats.org/drawingml/2006/main" w="7937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9AD6148-4441-4E40-9EB5-F5A1A103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300" y="3381437"/>
            <a:ext cx="1669442" cy="4219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6225"/>
              </a:lnSpc>
              <a:buNone/>
            </a:pPr>
            <a:r>
              <a:rPr sz="195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E20B1D7-96AA-44F2-B012-1BA07AF1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300" y="3936690"/>
            <a:ext cx="1593875" cy="7925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</a:pPr>
            <a:r>
              <a:rPr sz="270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Struktur və heyət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4F330EB-4C26-4221-873A-020E1421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300" y="4824450"/>
            <a:ext cx="1593875" cy="1041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648"/>
              </a:lnSpc>
              <a:buNone/>
            </a:pPr>
            <a:r>
              <a:rPr sz="1950">
                <a:solidFill>
                  <a:srgbClr val="5D5D60"/>
                </a:solidFill>
                <a:latin typeface="Arial"/>
                <a:ea typeface="Arial"/>
                <a:cs typeface="Arial"/>
              </a:rPr>
              <a:t>Fakültə, kafedra, </a:t>
            </a:r>
            <a:r>
              <a:rPr sz="1950">
                <a:solidFill>
                  <a:srgbClr val="5D5D60"/>
                </a:solidFill>
                <a:latin typeface="Arial"/>
                <a:ea typeface="Arial"/>
                <a:cs typeface="Arial"/>
              </a:rPr>
              <a:t>qrup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C504472D-F447-4C5E-B411-9C6799C5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176" y="3068712"/>
            <a:ext cx="2028837" cy="4953000"/>
          </a:xfrm>
          <a:prstGeom xmlns:a="http://schemas.openxmlformats.org/drawingml/2006/main" prst="rect">
            <a:avLst/>
          </a:prstGeom>
          <a:ln xmlns:a="http://schemas.openxmlformats.org/drawingml/2006/main" w="7937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E463AEF-42F5-4DF1-BFD2-0797821C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726" y="3381437"/>
            <a:ext cx="1669510" cy="4219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6225"/>
              </a:lnSpc>
              <a:buNone/>
            </a:pPr>
            <a:r>
              <a:rPr sz="195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E77E2EF-46E8-4B06-9567-425EBE9F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726" y="3936690"/>
            <a:ext cx="1669510" cy="4153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</a:pPr>
            <a:r>
              <a:rPr sz="270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Sual bankı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EA476DF-0CD5-4AB5-9E52-AF6CB629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0625" y="4686671"/>
            <a:ext cx="1593937" cy="13753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lnSpcReduction="1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648"/>
              </a:lnSpc>
              <a:buNone/>
            </a:pPr>
            <a:r>
              <a:rPr sz="1950">
                <a:solidFill>
                  <a:srgbClr val="5D5D60"/>
                </a:solidFill>
                <a:latin typeface="Arial"/>
                <a:ea typeface="Arial"/>
                <a:cs typeface="Arial"/>
              </a:rPr>
              <a:t>Hazırlanma, idxal, keyfiyyət yoxlaması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F30A9AD0-CA4E-410C-A4B8-005AE71F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663" y="3068712"/>
            <a:ext cx="2028775" cy="4953000"/>
          </a:xfrm>
          <a:prstGeom xmlns:a="http://schemas.openxmlformats.org/drawingml/2006/main" prst="rect">
            <a:avLst/>
          </a:prstGeom>
          <a:ln xmlns:a="http://schemas.openxmlformats.org/drawingml/2006/main" w="7937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97448B1-24DB-4A1D-B72C-F0FD795A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4213" y="3381437"/>
            <a:ext cx="1669442" cy="4219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6225"/>
              </a:lnSpc>
              <a:buNone/>
            </a:pPr>
            <a:r>
              <a:rPr sz="195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09BD80E-2AA2-48D0-BAA0-5544E4B3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4213" y="3936690"/>
            <a:ext cx="1773225" cy="7925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fontScale="85000" lnSpcReduction="1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</a:pPr>
            <a:r>
              <a:rPr sz="270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İmtahanın yaradılması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BF5C5CA-914B-4CE8-A326-B8E770F7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4213" y="4711551"/>
            <a:ext cx="1593875" cy="13753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lnSpcReduction="1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648"/>
              </a:lnSpc>
              <a:buNone/>
            </a:pPr>
            <a:r>
              <a:rPr sz="1950">
                <a:solidFill>
                  <a:srgbClr val="5D5D60"/>
                </a:solidFill>
                <a:latin typeface="Arial"/>
                <a:ea typeface="Arial"/>
                <a:cs typeface="Arial"/>
              </a:rPr>
              <a:t>Parametrlər, nəzarət səviyyəsi, dərc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B9537A0-1226-4A70-B586-5493182A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089" y="3068712"/>
            <a:ext cx="2028837" cy="4953000"/>
          </a:xfrm>
          <a:prstGeom xmlns:a="http://schemas.openxmlformats.org/drawingml/2006/main" prst="rect">
            <a:avLst/>
          </a:prstGeom>
          <a:ln xmlns:a="http://schemas.openxmlformats.org/drawingml/2006/main" w="7937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D6D5F9F-A910-4069-92A1-0AE8B4DA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9640" y="3381437"/>
            <a:ext cx="1669510" cy="4219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6225"/>
              </a:lnSpc>
              <a:buNone/>
            </a:pPr>
            <a:r>
              <a:rPr sz="195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6D34383-9297-420E-9EF9-96E7F651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9640" y="3936690"/>
            <a:ext cx="1593937" cy="7925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</a:pPr>
            <a:r>
              <a:rPr sz="270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Təyinat və PIN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C7A7999-B5C9-42AD-A848-0815BDED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9640" y="4824450"/>
            <a:ext cx="1593937" cy="1041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648"/>
              </a:lnSpc>
              <a:buNone/>
            </a:pPr>
            <a:r>
              <a:rPr sz="1950">
                <a:solidFill>
                  <a:srgbClr val="5D5D60"/>
                </a:solidFill>
                <a:latin typeface="Arial"/>
                <a:ea typeface="Arial"/>
                <a:cs typeface="Arial"/>
              </a:rPr>
              <a:t>Zal, oturacaq, bilet, nəzarətçi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41A36711-3EC0-4F86-8743-B60ADD16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577" y="3068712"/>
            <a:ext cx="2028837" cy="4953000"/>
          </a:xfrm>
          <a:prstGeom xmlns:a="http://schemas.openxmlformats.org/drawingml/2006/main" prst="rect">
            <a:avLst/>
          </a:prstGeom>
          <a:ln xmlns:a="http://schemas.openxmlformats.org/drawingml/2006/main" w="7937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79D75F1-173D-49B2-8602-2A962F3B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5127" y="3381437"/>
            <a:ext cx="1669510" cy="4219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6225"/>
              </a:lnSpc>
              <a:buNone/>
            </a:pPr>
            <a:r>
              <a:rPr sz="195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B5A6B69-C415-4EC1-8591-B4ECDBC6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5127" y="3936690"/>
            <a:ext cx="1669510" cy="4153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</a:pPr>
            <a:r>
              <a:rPr sz="270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Keçirilmə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BE22E5E0-04D6-42B3-A002-79956E38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0671" y="4729225"/>
            <a:ext cx="1593937" cy="13753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lnSpcReduction="1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648"/>
              </a:lnSpc>
              <a:buNone/>
            </a:pPr>
            <a:r>
              <a:rPr sz="1950">
                <a:solidFill>
                  <a:srgbClr val="5D5D60"/>
                </a:solidFill>
                <a:latin typeface="Arial"/>
                <a:ea typeface="Arial"/>
                <a:cs typeface="Arial"/>
              </a:rPr>
              <a:t>Taymer, avtosaxlama, canlı monitorinq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6AAA7A1-1D1B-44CB-9515-89DDBD05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065" y="3068712"/>
            <a:ext cx="2419697" cy="4953000"/>
          </a:xfrm>
          <a:prstGeom xmlns:a="http://schemas.openxmlformats.org/drawingml/2006/main" prst="rect">
            <a:avLst/>
          </a:prstGeom>
          <a:ln xmlns:a="http://schemas.openxmlformats.org/drawingml/2006/main" w="7937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BFAF5D0-6604-4EFF-A7BB-684059AD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0615" y="3381437"/>
            <a:ext cx="2099456" cy="4219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6225"/>
              </a:lnSpc>
              <a:buNone/>
            </a:pPr>
            <a:r>
              <a:rPr sz="195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95D89E4B-B877-4BF4-936E-5E5B4A09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064" y="3936690"/>
            <a:ext cx="2355007" cy="4153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fontScale="85000" lnSpcReduction="1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</a:pPr>
            <a:r>
              <a:rPr sz="270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Qiymətləndirmə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085641D-EC44-4E03-BD68-58DE51B1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2514" y="4729225"/>
            <a:ext cx="1984797" cy="1041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lnSpcReduction="1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648"/>
              </a:lnSpc>
              <a:buNone/>
            </a:pPr>
            <a:r>
              <a:rPr sz="1950">
                <a:solidFill>
                  <a:srgbClr val="5D5D60"/>
                </a:solidFill>
                <a:latin typeface="Arial"/>
                <a:ea typeface="Arial"/>
                <a:cs typeface="Arial"/>
              </a:rPr>
              <a:t>Avtomatik bal, müəllim yoxlaması, elan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0B03E2AB-3F6B-4B19-8F3A-4384603B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11412" y="3068712"/>
            <a:ext cx="2028775" cy="4953000"/>
          </a:xfrm>
          <a:prstGeom xmlns:a="http://schemas.openxmlformats.org/drawingml/2006/main" prst="rect">
            <a:avLst/>
          </a:prstGeom>
          <a:ln xmlns:a="http://schemas.openxmlformats.org/drawingml/2006/main" w="7937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12D155D4-E646-4D3B-BAB2-CBF53A3F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6963" y="3381437"/>
            <a:ext cx="1669442" cy="4219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6225"/>
              </a:lnSpc>
              <a:buNone/>
            </a:pPr>
            <a:r>
              <a:rPr sz="195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A7391E93-82C5-46C4-8DFC-D393142A5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2211" y="3936690"/>
            <a:ext cx="2028775" cy="7925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lnSpcReduction="1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</a:pPr>
            <a:r>
              <a:rPr sz="270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Apellyasiya və arxiv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CB6E08A6-B836-4750-A805-ACCFA2E0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6963" y="4824450"/>
            <a:ext cx="1593875" cy="13753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 lnSpcReduction="1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648"/>
              </a:lnSpc>
              <a:buNone/>
            </a:pPr>
            <a:r>
              <a:rPr sz="1950">
                <a:solidFill>
                  <a:srgbClr val="5D5D60"/>
                </a:solidFill>
                <a:latin typeface="Arial"/>
                <a:ea typeface="Arial"/>
                <a:cs typeface="Arial"/>
              </a:rPr>
              <a:t>Müraciət, qərar, bal düzəlişi, arxivləşmə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7B5C44F0-4B21-4029-9331-4A2146EC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044037"/>
            <a:ext cx="17811750" cy="4809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6098"/>
              </a:lnSpc>
              <a:buNone/>
            </a:pPr>
            <a:r>
              <a:rPr sz="2250">
                <a:solidFill>
                  <a:srgbClr val="5D5D60"/>
                </a:solidFill>
                <a:latin typeface="Arial"/>
                <a:ea typeface="Arial"/>
                <a:cs typeface="Arial"/>
              </a:rPr>
              <a:t>Hər mərhələ audit jurnalında iz qoyur: kim, nə vaxt, haradan və hansı dəyəri dəyişdi.</a:t>
            </a:r>
          </a:p>
        </p:txBody>
      </p:sp>
    </p:spTree>
    <p:extLst>
      <p:ext uri="{BB962C8B-B14F-4D97-AF65-F5344CB8AC3E}">
        <p14:creationId xmlns:p14="http://schemas.microsoft.com/office/powerpoint/2010/main" val="10396030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D2D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A95EE41-E1EC-455F-9720-C549D38F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71157"/>
            <a:ext cx="17811750" cy="3923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1800" b="1">
                <a:solidFill>
                  <a:srgbClr val="94BCE3"/>
                </a:solidFill>
                <a:latin typeface="Arial"/>
                <a:ea typeface="Arial"/>
                <a:cs typeface="Arial"/>
              </a:rPr>
              <a:t>BÖLMƏ 01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BBCE948-B36D-4F0D-A9BE-BCAB9BC1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54005"/>
            <a:ext cx="16678275" cy="25023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5292"/>
              </a:lnSpc>
              <a:buNone/>
            </a:pPr>
            <a:r>
              <a:rPr sz="9900" b="1">
                <a:solidFill>
                  <a:srgbClr val="F2F2F3"/>
                </a:solidFill>
                <a:latin typeface="Arial"/>
                <a:ea typeface="Arial"/>
                <a:cs typeface="Arial"/>
              </a:rPr>
              <a:t>Rollar və səlahiyyətlər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6846D4C-E283-4DF4-84CD-48E16F96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61090"/>
            <a:ext cx="10595610" cy="9639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7818"/>
              </a:lnSpc>
              <a:buNone/>
            </a:pPr>
            <a:r>
              <a:rPr sz="2700">
                <a:solidFill>
                  <a:srgbClr val="D6EBFF"/>
                </a:solidFill>
                <a:latin typeface="Arial"/>
                <a:ea typeface="Arial"/>
                <a:cs typeface="Arial"/>
              </a:rPr>
              <a:t>Hər istifadəçi yalnız öz səlahiyyət dairəsini görür — bu, həm təhlükəsizliyin, həm də şəffaflığın təməlidir.</a:t>
            </a:r>
          </a:p>
        </p:txBody>
      </p:sp>
    </p:spTree>
    <p:extLst>
      <p:ext uri="{BB962C8B-B14F-4D97-AF65-F5344CB8AC3E}">
        <p14:creationId xmlns:p14="http://schemas.microsoft.com/office/powerpoint/2010/main" val="14759161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2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E7B316D-5C7C-4837-87AD-2760C76B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38150"/>
            <a:ext cx="17811750" cy="3923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18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ROLLAR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7BF264E-B987-4892-A658-CEA484E6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25748"/>
            <a:ext cx="17811750" cy="8191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7080"/>
              </a:lnSpc>
              <a:buNone/>
            </a:pPr>
            <a:r>
              <a:rPr sz="615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Üç səlahiyyət qrupu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1E2A67A-9EF7-4D10-A87E-6F73E39F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25861"/>
            <a:ext cx="1619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A73F281-ACDE-4B0D-A071-92CA7C16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68712"/>
            <a:ext cx="5092712" cy="4953000"/>
          </a:xfrm>
          <a:prstGeom xmlns:a="http://schemas.openxmlformats.org/drawingml/2006/main" prst="rect">
            <a:avLst/>
          </a:prstGeom>
          <a:ln xmlns:a="http://schemas.openxmlformats.org/drawingml/2006/main" w="7937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0FC3EF6-864C-480D-B881-C03FB118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687" y="3457649"/>
            <a:ext cx="4746321" cy="3923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18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RƏHBƏRLIK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5153830-4B93-4FA1-9C67-CA015BCD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687" y="4078573"/>
            <a:ext cx="4746321" cy="419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7865"/>
              </a:lnSpc>
              <a:buNone/>
            </a:pPr>
            <a:r>
              <a:rPr sz="2400">
                <a:solidFill>
                  <a:srgbClr val="1D1F20"/>
                </a:solidFill>
                <a:latin typeface="Arial"/>
                <a:ea typeface="Arial"/>
                <a:cs typeface="Arial"/>
              </a:rPr>
              <a:t>Rektor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96DDFA1-B390-499C-A256-FE95A06C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687" y="4650011"/>
            <a:ext cx="4746321" cy="419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7865"/>
              </a:lnSpc>
              <a:buNone/>
            </a:pPr>
            <a:r>
              <a:rPr sz="2400">
                <a:solidFill>
                  <a:srgbClr val="1D1F20"/>
                </a:solidFill>
                <a:latin typeface="Arial"/>
                <a:ea typeface="Arial"/>
                <a:cs typeface="Arial"/>
              </a:rPr>
              <a:t>Prorektor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AE23A18-27BA-4272-A5F9-48CCBD7F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687" y="5221449"/>
            <a:ext cx="4746321" cy="419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7865"/>
              </a:lnSpc>
              <a:buNone/>
            </a:pPr>
            <a:r>
              <a:rPr sz="2400">
                <a:solidFill>
                  <a:srgbClr val="1D1F20"/>
                </a:solidFill>
                <a:latin typeface="Arial"/>
                <a:ea typeface="Arial"/>
                <a:cs typeface="Arial"/>
              </a:rPr>
              <a:t>Dekan və müavini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CEF10B7-7364-4145-A5A2-8E58302C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687" y="5792887"/>
            <a:ext cx="4746321" cy="419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7865"/>
              </a:lnSpc>
              <a:buNone/>
            </a:pPr>
            <a:r>
              <a:rPr sz="2400">
                <a:solidFill>
                  <a:srgbClr val="1D1F20"/>
                </a:solidFill>
                <a:latin typeface="Arial"/>
                <a:ea typeface="Arial"/>
                <a:cs typeface="Arial"/>
              </a:rPr>
              <a:t>Kafedra müdiri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17CAF4E-3EAB-4B10-9B13-880EA613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687" y="6901284"/>
            <a:ext cx="4444282" cy="7315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3042"/>
              </a:lnSpc>
              <a:buNone/>
            </a:pPr>
            <a:r>
              <a:rPr sz="1950">
                <a:solidFill>
                  <a:srgbClr val="5D5D60"/>
                </a:solidFill>
                <a:latin typeface="Arial"/>
                <a:ea typeface="Arial"/>
                <a:cs typeface="Arial"/>
              </a:rPr>
              <a:t>Universitet və ya öz bölməsi üzrə tam mənzərə, hesabat və analitika.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1AEDBE1-7A34-496B-9ABB-7BED1F96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7612" y="3068712"/>
            <a:ext cx="5092712" cy="4953000"/>
          </a:xfrm>
          <a:prstGeom xmlns:a="http://schemas.openxmlformats.org/drawingml/2006/main" prst="rect">
            <a:avLst/>
          </a:prstGeom>
          <a:ln xmlns:a="http://schemas.openxmlformats.org/drawingml/2006/main" w="7937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72B57C0-720A-46B5-8C0D-1C365816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550" y="3457649"/>
            <a:ext cx="4746321" cy="3923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18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İMTAHAN IDARƏETMƏSI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0A1811A-A1FC-483C-ADA5-18CF0702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550" y="4078573"/>
            <a:ext cx="4746321" cy="419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7865"/>
              </a:lnSpc>
              <a:buNone/>
            </a:pPr>
            <a:r>
              <a:rPr sz="2400">
                <a:solidFill>
                  <a:srgbClr val="1D1F20"/>
                </a:solidFill>
                <a:latin typeface="Arial"/>
                <a:ea typeface="Arial"/>
                <a:cs typeface="Arial"/>
              </a:rPr>
              <a:t>İmtahan Mərkəzi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970380C-A2EF-4A9E-8505-6F2ECF9D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550" y="4650011"/>
            <a:ext cx="4746321" cy="419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7865"/>
              </a:lnSpc>
              <a:buNone/>
            </a:pPr>
            <a:r>
              <a:rPr sz="2400">
                <a:solidFill>
                  <a:srgbClr val="1D1F20"/>
                </a:solidFill>
                <a:latin typeface="Arial"/>
                <a:ea typeface="Arial"/>
                <a:cs typeface="Arial"/>
              </a:rPr>
              <a:t>Mərkəzin rəhbəri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B6B400D-3C78-4033-AFB6-A418D8D1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550" y="5221449"/>
            <a:ext cx="4746321" cy="419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7865"/>
              </a:lnSpc>
              <a:buNone/>
            </a:pPr>
            <a:r>
              <a:rPr sz="2400">
                <a:solidFill>
                  <a:srgbClr val="1D1F20"/>
                </a:solidFill>
                <a:latin typeface="Arial"/>
                <a:ea typeface="Arial"/>
                <a:cs typeface="Arial"/>
              </a:rPr>
              <a:t>Nəzarətçi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CB371A2-5B0A-4CCA-81B9-7DB443E6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550" y="6901284"/>
            <a:ext cx="4444282" cy="7315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3042"/>
              </a:lnSpc>
              <a:buNone/>
            </a:pPr>
            <a:r>
              <a:rPr sz="1950">
                <a:solidFill>
                  <a:srgbClr val="5D5D60"/>
                </a:solidFill>
                <a:latin typeface="Arial"/>
                <a:ea typeface="Arial"/>
                <a:cs typeface="Arial"/>
              </a:rPr>
              <a:t>İmtahanın həyat dövrü, PIN-lər, zallar, sessiyalar və nəticələrin dərci.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DCD2188B-BC39-4B8B-BE65-341793FE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7475" y="3068712"/>
            <a:ext cx="5092774" cy="4953000"/>
          </a:xfrm>
          <a:prstGeom xmlns:a="http://schemas.openxmlformats.org/drawingml/2006/main" prst="rect">
            <a:avLst/>
          </a:prstGeom>
          <a:ln xmlns:a="http://schemas.openxmlformats.org/drawingml/2006/main" w="7937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76000F5-52F9-4F31-B2A0-F9D2AA26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6413" y="3457649"/>
            <a:ext cx="4746389" cy="3923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18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AKADEMIK HEYƏT VƏ TƏLƏBƏ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DE7C46C4-EF14-45D4-99C1-19AD5072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6413" y="4078573"/>
            <a:ext cx="4746389" cy="419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7865"/>
              </a:lnSpc>
              <a:buNone/>
            </a:pPr>
            <a:r>
              <a:rPr sz="2400">
                <a:solidFill>
                  <a:srgbClr val="1D1F20"/>
                </a:solidFill>
                <a:latin typeface="Arial"/>
                <a:ea typeface="Arial"/>
                <a:cs typeface="Arial"/>
              </a:rPr>
              <a:t>Müəllim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28543D9-BA11-4DE9-A884-D57DED4B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6413" y="4650011"/>
            <a:ext cx="4746389" cy="419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7865"/>
              </a:lnSpc>
              <a:buNone/>
            </a:pPr>
            <a:r>
              <a:rPr sz="2400">
                <a:solidFill>
                  <a:srgbClr val="1D1F20"/>
                </a:solidFill>
                <a:latin typeface="Arial"/>
                <a:ea typeface="Arial"/>
                <a:cs typeface="Arial"/>
              </a:rPr>
              <a:t>Tyutor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FB89125-2953-4A7B-BFA2-3A3A3F59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6413" y="5221449"/>
            <a:ext cx="4746389" cy="419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7865"/>
              </a:lnSpc>
              <a:buNone/>
            </a:pPr>
            <a:r>
              <a:rPr sz="2400">
                <a:solidFill>
                  <a:srgbClr val="1D1F20"/>
                </a:solidFill>
                <a:latin typeface="Arial"/>
                <a:ea typeface="Arial"/>
                <a:cs typeface="Arial"/>
              </a:rPr>
              <a:t>Tələbə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2F9361B-7B7B-4C4E-9DB0-88108845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6413" y="5792887"/>
            <a:ext cx="4746389" cy="419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7865"/>
              </a:lnSpc>
              <a:buNone/>
            </a:pPr>
            <a:r>
              <a:rPr sz="2400">
                <a:solidFill>
                  <a:srgbClr val="1D1F20"/>
                </a:solidFill>
                <a:latin typeface="Arial"/>
                <a:ea typeface="Arial"/>
                <a:cs typeface="Arial"/>
              </a:rPr>
              <a:t>HR, moderator, laborant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FD381AD5-B9AE-453F-9C5C-263F82FA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6413" y="6901284"/>
            <a:ext cx="4444346" cy="7315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3042"/>
              </a:lnSpc>
              <a:buNone/>
            </a:pPr>
            <a:r>
              <a:rPr sz="1950">
                <a:solidFill>
                  <a:srgbClr val="5D5D60"/>
                </a:solidFill>
                <a:latin typeface="Arial"/>
                <a:ea typeface="Arial"/>
                <a:cs typeface="Arial"/>
              </a:rPr>
              <a:t>Yalnız öz fənləri, qrupları və şəxsi məlumatları çərçivəsində.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35415F5-5912-417B-8AF3-3EA176D9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044037"/>
            <a:ext cx="17811750" cy="4809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6098"/>
              </a:lnSpc>
              <a:buNone/>
            </a:pPr>
            <a:r>
              <a:rPr sz="2250">
                <a:solidFill>
                  <a:srgbClr val="5D5D60"/>
                </a:solidFill>
                <a:latin typeface="Arial"/>
                <a:ea typeface="Arial"/>
                <a:cs typeface="Arial"/>
              </a:rPr>
              <a:t>İcazə yoxlaması hər sorğuda serverdə təkrarlanır: interfeysdə görünməyən əməliyyat texniki yolla da icra oluna bilmir.</a:t>
            </a:r>
          </a:p>
        </p:txBody>
      </p:sp>
    </p:spTree>
    <p:extLst>
      <p:ext uri="{BB962C8B-B14F-4D97-AF65-F5344CB8AC3E}">
        <p14:creationId xmlns:p14="http://schemas.microsoft.com/office/powerpoint/2010/main" val="14434131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2F2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16BEBE6-BBF8-4005-BEF1-17035560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38150"/>
            <a:ext cx="17811750" cy="3923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18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SƏLAHIYYƏT DAIRƏSI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5F7F7EC-6737-4F1C-A6BE-C12E1DD0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25748"/>
            <a:ext cx="17811750" cy="8191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7080"/>
              </a:lnSpc>
              <a:buNone/>
            </a:pPr>
            <a:r>
              <a:rPr sz="615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Kim nəyə çıxış əldə edir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0616E4B-FF57-497E-B379-9D30D4E8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25861"/>
            <a:ext cx="1619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96C6D85-DEB0-48B3-9355-F48036A0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5308"/>
            <a:ext cx="2801999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40000"/>
            </a:srgbClr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EBCFA15-3107-48EC-B020-262FD37C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4924"/>
            <a:ext cx="2657459" cy="4179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6225"/>
              </a:lnSpc>
              <a:buNone/>
            </a:pPr>
            <a:r>
              <a:rPr sz="1950" b="1">
                <a:solidFill>
                  <a:srgbClr val="5D5D60"/>
                </a:solidFill>
                <a:latin typeface="Arial"/>
                <a:ea typeface="Arial"/>
                <a:cs typeface="Arial"/>
              </a:rPr>
              <a:t>ROL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F09A58D-59CF-4F41-9A30-9E2FA73D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9749" y="3715308"/>
            <a:ext cx="242620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40000"/>
            </a:srgbClr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0351607-B281-4C69-9F1D-D9C3D43C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349" y="3144924"/>
            <a:ext cx="2045208" cy="4179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6225"/>
              </a:lnSpc>
              <a:buNone/>
            </a:pPr>
            <a:r>
              <a:rPr sz="1950" b="1">
                <a:solidFill>
                  <a:srgbClr val="5D5D60"/>
                </a:solidFill>
                <a:latin typeface="Arial"/>
                <a:ea typeface="Arial"/>
                <a:cs typeface="Arial"/>
              </a:rPr>
              <a:t>BAXIŞ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B28C663-852E-4944-A693-C46B458F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5958" y="3715308"/>
            <a:ext cx="357125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40000"/>
            </a:srgbClr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0B61393-8EBF-476F-9063-0C489E66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4558" y="3144924"/>
            <a:ext cx="3221192" cy="4179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6225"/>
              </a:lnSpc>
              <a:buNone/>
            </a:pPr>
            <a:r>
              <a:rPr sz="1950" b="1">
                <a:solidFill>
                  <a:srgbClr val="5D5D60"/>
                </a:solidFill>
                <a:latin typeface="Arial"/>
                <a:ea typeface="Arial"/>
                <a:cs typeface="Arial"/>
              </a:rPr>
              <a:t>İMTAHAN IDARƏETMƏSI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D24222E-F887-47C0-94E4-47283372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7213" y="3715308"/>
            <a:ext cx="3807954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40000"/>
            </a:srgbClr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05B82BD-B2CA-43F3-8A7F-22D4F60C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5813" y="3144924"/>
            <a:ext cx="3464992" cy="4179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6225"/>
              </a:lnSpc>
              <a:buNone/>
            </a:pPr>
            <a:r>
              <a:rPr sz="1950" b="1">
                <a:solidFill>
                  <a:srgbClr val="5D5D60"/>
                </a:solidFill>
                <a:latin typeface="Arial"/>
                <a:ea typeface="Arial"/>
                <a:cs typeface="Arial"/>
              </a:rPr>
              <a:t>NƏTICƏ VƏ TƏSDIQ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4452A6D-5951-4548-B2B3-B57A45CF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5167" y="3715308"/>
            <a:ext cx="358508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40000"/>
            </a:srgbClr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8CDFCB0-0AB8-4B90-AE62-CB90416C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3767" y="3144924"/>
            <a:ext cx="3464036" cy="4179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6225"/>
              </a:lnSpc>
              <a:buNone/>
            </a:pPr>
            <a:r>
              <a:rPr sz="1950" b="1">
                <a:solidFill>
                  <a:srgbClr val="5D5D60"/>
                </a:solidFill>
                <a:latin typeface="Arial"/>
                <a:ea typeface="Arial"/>
                <a:cs typeface="Arial"/>
              </a:rPr>
              <a:t>İSTIFADƏÇI IDARƏETMƏSI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501D41F-2C6C-49B3-881E-7C118762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84166"/>
            <a:ext cx="2801999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7C67131-FCEE-43A6-91FA-0A7E3576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47070"/>
            <a:ext cx="2657459" cy="4513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>
                <a:solidFill>
                  <a:srgbClr val="1D1F20"/>
                </a:solidFill>
                <a:latin typeface="Arial"/>
                <a:ea typeface="Arial"/>
                <a:cs typeface="Arial"/>
              </a:rPr>
              <a:t>Rektor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76B9F53-C568-4977-9311-CF951EEB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9749" y="4384166"/>
            <a:ext cx="242620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4F5C161-4A04-4D5F-B400-38036878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349" y="3847070"/>
            <a:ext cx="2045208" cy="4513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>
                <a:solidFill>
                  <a:srgbClr val="424244"/>
                </a:solidFill>
                <a:latin typeface="Arial"/>
                <a:ea typeface="Arial"/>
                <a:cs typeface="Arial"/>
              </a:rPr>
              <a:t>Tam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75F2734D-FDB5-467B-9C14-83AF5162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5958" y="4384166"/>
            <a:ext cx="357125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9055C5C-B12D-48CF-AEB1-898C59C5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4558" y="3847070"/>
            <a:ext cx="3221192" cy="4513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>
                <a:solidFill>
                  <a:srgbClr val="424244"/>
                </a:solidFill>
                <a:latin typeface="Arial"/>
                <a:ea typeface="Arial"/>
                <a:cs typeface="Arial"/>
              </a:rPr>
              <a:t>Tam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B99D262D-D1AA-487C-B8F9-3215C73C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7213" y="4384166"/>
            <a:ext cx="3807954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6F2BC72A-4E5B-4A24-B259-97BC9D7B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5813" y="3847070"/>
            <a:ext cx="3464992" cy="4513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>
                <a:solidFill>
                  <a:srgbClr val="424244"/>
                </a:solidFill>
                <a:latin typeface="Arial"/>
                <a:ea typeface="Arial"/>
                <a:cs typeface="Arial"/>
              </a:rPr>
              <a:t>Tam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DFBB3687-5E11-442E-8AC5-2E610C93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5167" y="4384166"/>
            <a:ext cx="358508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5D5AB7DC-AC1B-435C-8BEB-3561433F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3767" y="3847070"/>
            <a:ext cx="3464036" cy="4513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>
                <a:solidFill>
                  <a:srgbClr val="424244"/>
                </a:solidFill>
                <a:latin typeface="Arial"/>
                <a:ea typeface="Arial"/>
                <a:cs typeface="Arial"/>
              </a:rPr>
              <a:t>Tam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074F2D70-BDFF-472C-9111-E07FCEDE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53025"/>
            <a:ext cx="2801999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1133712D-AA72-4E99-AACA-9B19A6CB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15929"/>
            <a:ext cx="2657459" cy="4513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>
                <a:solidFill>
                  <a:srgbClr val="1D1F20"/>
                </a:solidFill>
                <a:latin typeface="Arial"/>
                <a:ea typeface="Arial"/>
                <a:cs typeface="Arial"/>
              </a:rPr>
              <a:t>Prorektor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E3A048F0-FCD0-4BB8-8FBB-A015984F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9749" y="5053025"/>
            <a:ext cx="242620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71123216-538C-4C3D-BBDF-71210988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349" y="4515929"/>
            <a:ext cx="2045208" cy="4513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>
                <a:solidFill>
                  <a:srgbClr val="424244"/>
                </a:solidFill>
                <a:latin typeface="Arial"/>
                <a:ea typeface="Arial"/>
                <a:cs typeface="Arial"/>
              </a:rPr>
              <a:t>Tam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10EC528A-68EF-462C-9169-6FBA63AA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5958" y="5053025"/>
            <a:ext cx="357125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A7323F32-A517-47A6-9B6A-058E310C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4558" y="4515929"/>
            <a:ext cx="3221192" cy="4513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>
                <a:solidFill>
                  <a:srgbClr val="424244"/>
                </a:solidFill>
                <a:latin typeface="Arial"/>
                <a:ea typeface="Arial"/>
                <a:cs typeface="Arial"/>
              </a:rPr>
              <a:t>Tam</a:t>
            </a: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FE16E012-4E57-4ABE-9BCA-ACAC1B73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7213" y="5053025"/>
            <a:ext cx="3807954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2CD9DC68-D015-427F-9A88-90C7EF75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5813" y="4515929"/>
            <a:ext cx="3464992" cy="4513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>
                <a:solidFill>
                  <a:srgbClr val="424244"/>
                </a:solidFill>
                <a:latin typeface="Arial"/>
                <a:ea typeface="Arial"/>
                <a:cs typeface="Arial"/>
              </a:rPr>
              <a:t>Tam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07E31D1F-CF7C-4A12-8822-95AD2441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5167" y="5053025"/>
            <a:ext cx="358508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B224C96B-734C-4A13-BD1F-33CC3141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3767" y="4515929"/>
            <a:ext cx="3464036" cy="4513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>
                <a:solidFill>
                  <a:srgbClr val="424244"/>
                </a:solidFill>
                <a:latin typeface="Arial"/>
                <a:ea typeface="Arial"/>
                <a:cs typeface="Arial"/>
              </a:rPr>
              <a:t>Tam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FB919B07-41B6-4C0A-B463-0CD08E26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21883"/>
            <a:ext cx="2801999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CB4C676D-1ACF-4E2B-8633-455D8DC6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84787"/>
            <a:ext cx="2657459" cy="4513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>
                <a:solidFill>
                  <a:srgbClr val="1D1F20"/>
                </a:solidFill>
                <a:latin typeface="Arial"/>
                <a:ea typeface="Arial"/>
                <a:cs typeface="Arial"/>
              </a:rPr>
              <a:t>İmtahan Mərkəzi</a:t>
            </a:r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0000FC00-A4D9-4ABE-A29A-4415C4BD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9749" y="5721883"/>
            <a:ext cx="242620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F491D611-44BD-4954-AECC-61481668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349" y="5184787"/>
            <a:ext cx="2045208" cy="4513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>
                <a:solidFill>
                  <a:srgbClr val="424244"/>
                </a:solidFill>
                <a:latin typeface="Arial"/>
                <a:ea typeface="Arial"/>
                <a:cs typeface="Arial"/>
              </a:rPr>
              <a:t>Tam</a:t>
            </a:r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6F3C2CDD-A719-4037-8E7E-B4DE9243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5958" y="5721883"/>
            <a:ext cx="357125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A29DF3F8-3A26-4CBA-9AB8-1882A8C5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4558" y="5184787"/>
            <a:ext cx="3221192" cy="4513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>
                <a:solidFill>
                  <a:srgbClr val="416180"/>
                </a:solidFill>
                <a:latin typeface="Arial"/>
                <a:ea typeface="Arial"/>
                <a:cs typeface="Arial"/>
              </a:rPr>
              <a:t>Tam</a:t>
            </a:r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898219E7-16DE-43F1-AA16-0BBCE7F0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7213" y="5721883"/>
            <a:ext cx="3807954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5F244DC5-54C2-476D-A37C-57A73553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5813" y="5184787"/>
            <a:ext cx="3464992" cy="4513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>
                <a:solidFill>
                  <a:srgbClr val="416180"/>
                </a:solidFill>
                <a:latin typeface="Arial"/>
                <a:ea typeface="Arial"/>
                <a:cs typeface="Arial"/>
              </a:rPr>
              <a:t>Nəticə, apellyasiya</a:t>
            </a:r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031510CC-0259-4196-89C2-D3448602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5167" y="5721883"/>
            <a:ext cx="358508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B58693BE-2DFC-474A-A3B8-6F209FDD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3767" y="5184787"/>
            <a:ext cx="3464036" cy="4513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>
                <a:solidFill>
                  <a:srgbClr val="98989B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B6BF92DE-387C-40BA-9467-9022C842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90741"/>
            <a:ext cx="2801999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0550106D-CB6B-491B-A02A-C272FE60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53646"/>
            <a:ext cx="2657459" cy="4513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>
                <a:solidFill>
                  <a:srgbClr val="1D1F20"/>
                </a:solidFill>
                <a:latin typeface="Arial"/>
                <a:ea typeface="Arial"/>
                <a:cs typeface="Arial"/>
              </a:rPr>
              <a:t>Dekan / müavini</a:t>
            </a:r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9E8BDE6D-CB3F-4B5D-BBFD-FBC0B220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9749" y="6390741"/>
            <a:ext cx="242620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2611B29D-FDA4-48FE-AFAB-3E0E4443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349" y="5853646"/>
            <a:ext cx="2045208" cy="4513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>
                <a:solidFill>
                  <a:srgbClr val="424244"/>
                </a:solidFill>
                <a:latin typeface="Arial"/>
                <a:ea typeface="Arial"/>
                <a:cs typeface="Arial"/>
              </a:rPr>
              <a:t>Öz fakültəsi</a:t>
            </a:r>
          </a:p>
        </p:txBody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32989B6A-ACCD-4A0C-8E26-82B27B01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5958" y="6390741"/>
            <a:ext cx="357125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C347F61A-201E-4FAE-98F9-32A4A899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4558" y="5853646"/>
            <a:ext cx="3221192" cy="4513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>
                <a:solidFill>
                  <a:srgbClr val="424244"/>
                </a:solidFill>
                <a:latin typeface="Arial"/>
                <a:ea typeface="Arial"/>
                <a:cs typeface="Arial"/>
              </a:rPr>
              <a:t>Baxış</a:t>
            </a:r>
          </a:p>
        </p:txBody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71F8241C-F738-44E5-A06A-CE93107C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7213" y="6390741"/>
            <a:ext cx="3807954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09A5EF96-DD99-4CA0-BAA3-E79AAF2E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5813" y="5853646"/>
            <a:ext cx="3464992" cy="4513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>
                <a:solidFill>
                  <a:srgbClr val="424244"/>
                </a:solidFill>
                <a:latin typeface="Arial"/>
                <a:ea typeface="Arial"/>
                <a:cs typeface="Arial"/>
              </a:rPr>
              <a:t>Öz fakültəsi</a:t>
            </a:r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50C05B77-8F79-4EDC-ABE1-C76A42EB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5167" y="6390741"/>
            <a:ext cx="358508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E147D4C7-19CF-4229-A661-0277AD56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3767" y="5853646"/>
            <a:ext cx="3464036" cy="4513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>
                <a:solidFill>
                  <a:srgbClr val="424244"/>
                </a:solidFill>
                <a:latin typeface="Arial"/>
                <a:ea typeface="Arial"/>
                <a:cs typeface="Arial"/>
              </a:rPr>
              <a:t>Öz fakültəsi</a:t>
            </a:r>
          </a:p>
        </p:txBody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196FC81F-5A07-4430-806D-2C718FBD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059600"/>
            <a:ext cx="2801999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5392D9F5-7FCC-4709-9645-70785FAE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522504"/>
            <a:ext cx="2657459" cy="4513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>
                <a:solidFill>
                  <a:srgbClr val="1D1F20"/>
                </a:solidFill>
                <a:latin typeface="Arial"/>
                <a:ea typeface="Arial"/>
                <a:cs typeface="Arial"/>
              </a:rPr>
              <a:t>Kafedra müdiri</a:t>
            </a:r>
          </a:p>
        </p:txBody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C58147BA-8C8E-47AD-AC3D-397A6AB0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9749" y="7059600"/>
            <a:ext cx="242620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27A16397-1611-491A-9699-FE459F2A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349" y="6522504"/>
            <a:ext cx="2045208" cy="4513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>
                <a:solidFill>
                  <a:srgbClr val="424244"/>
                </a:solidFill>
                <a:latin typeface="Arial"/>
                <a:ea typeface="Arial"/>
                <a:cs typeface="Arial"/>
              </a:rPr>
              <a:t>Öz kafedrası</a:t>
            </a:r>
          </a:p>
        </p:txBody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BF6239B4-EE34-4199-ADB0-F516CFA7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5958" y="7059600"/>
            <a:ext cx="357125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60" name="Text 58">
            <a:extLst xmlns:a="http://schemas.openxmlformats.org/drawingml/2006/main">
              <a:ext uri="{FF2B5EF4-FFF2-40B4-BE49-F238E27FC236}">
                <a16:creationId xmlns:a16="http://schemas.microsoft.com/office/drawing/2014/main" id="{FE9C8BDB-2E31-434E-A9F4-3EC89B76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4558" y="6522504"/>
            <a:ext cx="3221192" cy="4513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>
                <a:solidFill>
                  <a:srgbClr val="424244"/>
                </a:solidFill>
                <a:latin typeface="Arial"/>
                <a:ea typeface="Arial"/>
                <a:cs typeface="Arial"/>
              </a:rPr>
              <a:t>Baxış</a:t>
            </a:r>
          </a:p>
        </p:txBody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73DF5FE0-24BD-4D63-A5F0-F263645A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7213" y="7059600"/>
            <a:ext cx="3807954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15D1B05A-4C92-4D07-BA4B-DCCBD052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5813" y="6522504"/>
            <a:ext cx="3464992" cy="4513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>
                <a:solidFill>
                  <a:srgbClr val="424244"/>
                </a:solidFill>
                <a:latin typeface="Arial"/>
                <a:ea typeface="Arial"/>
                <a:cs typeface="Arial"/>
              </a:rPr>
              <a:t>Öz kafedrası</a:t>
            </a:r>
          </a:p>
        </p:txBody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B7762B39-D3EE-4F7F-B65D-9AE76D1B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5167" y="7059600"/>
            <a:ext cx="358508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64" name="Text 62">
            <a:extLst xmlns:a="http://schemas.openxmlformats.org/drawingml/2006/main">
              <a:ext uri="{FF2B5EF4-FFF2-40B4-BE49-F238E27FC236}">
                <a16:creationId xmlns:a16="http://schemas.microsoft.com/office/drawing/2014/main" id="{039AF481-BA2E-4301-8E0C-9FEFBCD8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3767" y="6522504"/>
            <a:ext cx="3464036" cy="4513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>
                <a:solidFill>
                  <a:srgbClr val="424244"/>
                </a:solidFill>
                <a:latin typeface="Arial"/>
                <a:ea typeface="Arial"/>
                <a:cs typeface="Arial"/>
              </a:rPr>
              <a:t>Məhdud</a:t>
            </a:r>
          </a:p>
        </p:txBody>
      </p:sp>
      <p:sp>
        <p:nvSpPr>
          <p:cNvPr id="65" name="Shape 63">
            <a:extLst xmlns:a="http://schemas.openxmlformats.org/drawingml/2006/main">
              <a:ext uri="{FF2B5EF4-FFF2-40B4-BE49-F238E27FC236}">
                <a16:creationId xmlns:a16="http://schemas.microsoft.com/office/drawing/2014/main" id="{E2C32811-1FF4-4EE1-876C-3DDC6B25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728458"/>
            <a:ext cx="2801999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66" name="Text 64">
            <a:extLst xmlns:a="http://schemas.openxmlformats.org/drawingml/2006/main">
              <a:ext uri="{FF2B5EF4-FFF2-40B4-BE49-F238E27FC236}">
                <a16:creationId xmlns:a16="http://schemas.microsoft.com/office/drawing/2014/main" id="{505779A6-9B0F-470A-9FEB-E3D42D5E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191362"/>
            <a:ext cx="2657459" cy="4513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>
                <a:solidFill>
                  <a:srgbClr val="1D1F20"/>
                </a:solidFill>
                <a:latin typeface="Arial"/>
                <a:ea typeface="Arial"/>
                <a:cs typeface="Arial"/>
              </a:rPr>
              <a:t>Müəllim</a:t>
            </a:r>
          </a:p>
        </p:txBody>
      </p:sp>
      <p:sp>
        <p:nvSpPr>
          <p:cNvPr id="67" name="Shape 65">
            <a:extLst xmlns:a="http://schemas.openxmlformats.org/drawingml/2006/main">
              <a:ext uri="{FF2B5EF4-FFF2-40B4-BE49-F238E27FC236}">
                <a16:creationId xmlns:a16="http://schemas.microsoft.com/office/drawing/2014/main" id="{45824269-AED7-4D2D-95E7-34F69794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9749" y="7728458"/>
            <a:ext cx="242620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68" name="Text 66">
            <a:extLst xmlns:a="http://schemas.openxmlformats.org/drawingml/2006/main">
              <a:ext uri="{FF2B5EF4-FFF2-40B4-BE49-F238E27FC236}">
                <a16:creationId xmlns:a16="http://schemas.microsoft.com/office/drawing/2014/main" id="{28C9A233-9206-4224-B883-6BD85E9B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349" y="7191362"/>
            <a:ext cx="2045208" cy="4513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>
                <a:solidFill>
                  <a:srgbClr val="424244"/>
                </a:solidFill>
                <a:latin typeface="Arial"/>
                <a:ea typeface="Arial"/>
                <a:cs typeface="Arial"/>
              </a:rPr>
              <a:t>Öz fənləri</a:t>
            </a:r>
          </a:p>
        </p:txBody>
      </p:sp>
      <p:sp>
        <p:nvSpPr>
          <p:cNvPr id="69" name="Shape 67">
            <a:extLst xmlns:a="http://schemas.openxmlformats.org/drawingml/2006/main">
              <a:ext uri="{FF2B5EF4-FFF2-40B4-BE49-F238E27FC236}">
                <a16:creationId xmlns:a16="http://schemas.microsoft.com/office/drawing/2014/main" id="{6E0E47E8-29A3-45AE-B227-0F6F259A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5958" y="7728458"/>
            <a:ext cx="357125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70" name="Text 68">
            <a:extLst xmlns:a="http://schemas.openxmlformats.org/drawingml/2006/main">
              <a:ext uri="{FF2B5EF4-FFF2-40B4-BE49-F238E27FC236}">
                <a16:creationId xmlns:a16="http://schemas.microsoft.com/office/drawing/2014/main" id="{2C651B74-5255-4B2F-B7B3-9612F277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4558" y="7191362"/>
            <a:ext cx="3221192" cy="4513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>
                <a:solidFill>
                  <a:srgbClr val="424244"/>
                </a:solidFill>
                <a:latin typeface="Arial"/>
                <a:ea typeface="Arial"/>
                <a:cs typeface="Arial"/>
              </a:rPr>
              <a:t>Öz imtahanları</a:t>
            </a:r>
          </a:p>
        </p:txBody>
      </p:sp>
      <p:sp>
        <p:nvSpPr>
          <p:cNvPr id="71" name="Shape 69">
            <a:extLst xmlns:a="http://schemas.openxmlformats.org/drawingml/2006/main">
              <a:ext uri="{FF2B5EF4-FFF2-40B4-BE49-F238E27FC236}">
                <a16:creationId xmlns:a16="http://schemas.microsoft.com/office/drawing/2014/main" id="{67C6856E-4B23-4E3B-ACBD-A83F9626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7213" y="7728458"/>
            <a:ext cx="3807954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72" name="Text 70">
            <a:extLst xmlns:a="http://schemas.openxmlformats.org/drawingml/2006/main">
              <a:ext uri="{FF2B5EF4-FFF2-40B4-BE49-F238E27FC236}">
                <a16:creationId xmlns:a16="http://schemas.microsoft.com/office/drawing/2014/main" id="{66142E13-C1FF-4A01-ABA8-D4C43866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5813" y="7191362"/>
            <a:ext cx="3464992" cy="4513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>
                <a:solidFill>
                  <a:srgbClr val="424244"/>
                </a:solidFill>
                <a:latin typeface="Arial"/>
                <a:ea typeface="Arial"/>
                <a:cs typeface="Arial"/>
              </a:rPr>
              <a:t>Öz qiymətləri</a:t>
            </a:r>
          </a:p>
        </p:txBody>
      </p:sp>
      <p:sp>
        <p:nvSpPr>
          <p:cNvPr id="73" name="Shape 71">
            <a:extLst xmlns:a="http://schemas.openxmlformats.org/drawingml/2006/main">
              <a:ext uri="{FF2B5EF4-FFF2-40B4-BE49-F238E27FC236}">
                <a16:creationId xmlns:a16="http://schemas.microsoft.com/office/drawing/2014/main" id="{6ACB48DF-C595-41D0-8CEA-FCFF65EC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5167" y="7728458"/>
            <a:ext cx="358508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74" name="Text 72">
            <a:extLst xmlns:a="http://schemas.openxmlformats.org/drawingml/2006/main">
              <a:ext uri="{FF2B5EF4-FFF2-40B4-BE49-F238E27FC236}">
                <a16:creationId xmlns:a16="http://schemas.microsoft.com/office/drawing/2014/main" id="{ABE217B6-69AD-49A4-9AC4-4C177FB6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3767" y="7191362"/>
            <a:ext cx="3464036" cy="4513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>
                <a:solidFill>
                  <a:srgbClr val="98989B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75" name="Text 73">
            <a:extLst xmlns:a="http://schemas.openxmlformats.org/drawingml/2006/main">
              <a:ext uri="{FF2B5EF4-FFF2-40B4-BE49-F238E27FC236}">
                <a16:creationId xmlns:a16="http://schemas.microsoft.com/office/drawing/2014/main" id="{4E5F70E7-571B-4CC5-91E3-7D5E7CF7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860221"/>
            <a:ext cx="2657459" cy="4553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>
                <a:solidFill>
                  <a:srgbClr val="1D1F20"/>
                </a:solidFill>
                <a:latin typeface="Arial"/>
                <a:ea typeface="Arial"/>
                <a:cs typeface="Arial"/>
              </a:rPr>
              <a:t>Tələbə</a:t>
            </a:r>
          </a:p>
        </p:txBody>
      </p:sp>
      <p:sp>
        <p:nvSpPr>
          <p:cNvPr id="76" name="Text 74">
            <a:extLst xmlns:a="http://schemas.openxmlformats.org/drawingml/2006/main">
              <a:ext uri="{FF2B5EF4-FFF2-40B4-BE49-F238E27FC236}">
                <a16:creationId xmlns:a16="http://schemas.microsoft.com/office/drawing/2014/main" id="{6E0C8209-166C-48F3-9C68-CFFF2298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349" y="7860221"/>
            <a:ext cx="2045208" cy="4553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>
                <a:solidFill>
                  <a:srgbClr val="424244"/>
                </a:solidFill>
                <a:latin typeface="Arial"/>
                <a:ea typeface="Arial"/>
                <a:cs typeface="Arial"/>
              </a:rPr>
              <a:t>Şəxsi</a:t>
            </a:r>
          </a:p>
        </p:txBody>
      </p:sp>
      <p:sp>
        <p:nvSpPr>
          <p:cNvPr id="77" name="Text 75">
            <a:extLst xmlns:a="http://schemas.openxmlformats.org/drawingml/2006/main">
              <a:ext uri="{FF2B5EF4-FFF2-40B4-BE49-F238E27FC236}">
                <a16:creationId xmlns:a16="http://schemas.microsoft.com/office/drawing/2014/main" id="{14A8E33C-34D9-48B2-8DA3-937DEFC6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4558" y="7860221"/>
            <a:ext cx="3221192" cy="4553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>
                <a:solidFill>
                  <a:srgbClr val="98989B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78" name="Text 76">
            <a:extLst xmlns:a="http://schemas.openxmlformats.org/drawingml/2006/main">
              <a:ext uri="{FF2B5EF4-FFF2-40B4-BE49-F238E27FC236}">
                <a16:creationId xmlns:a16="http://schemas.microsoft.com/office/drawing/2014/main" id="{365D8ADD-D17E-4E9C-A7E6-71A2A800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5813" y="7860221"/>
            <a:ext cx="3464992" cy="4553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>
                <a:solidFill>
                  <a:srgbClr val="424244"/>
                </a:solidFill>
                <a:latin typeface="Arial"/>
                <a:ea typeface="Arial"/>
                <a:cs typeface="Arial"/>
              </a:rPr>
              <a:t>Apellyasiya müraciəti</a:t>
            </a:r>
          </a:p>
        </p:txBody>
      </p:sp>
      <p:sp>
        <p:nvSpPr>
          <p:cNvPr id="79" name="Text 77">
            <a:extLst xmlns:a="http://schemas.openxmlformats.org/drawingml/2006/main">
              <a:ext uri="{FF2B5EF4-FFF2-40B4-BE49-F238E27FC236}">
                <a16:creationId xmlns:a16="http://schemas.microsoft.com/office/drawing/2014/main" id="{B4AC9A39-964B-4FD8-8F99-63D624FA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3767" y="7860221"/>
            <a:ext cx="3464036" cy="4553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>
                <a:solidFill>
                  <a:srgbClr val="98989B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80" name="Text 78">
            <a:extLst xmlns:a="http://schemas.openxmlformats.org/drawingml/2006/main">
              <a:ext uri="{FF2B5EF4-FFF2-40B4-BE49-F238E27FC236}">
                <a16:creationId xmlns:a16="http://schemas.microsoft.com/office/drawing/2014/main" id="{AB36527C-80F4-4F93-9279-B51AB902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044037"/>
            <a:ext cx="17811750" cy="4809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6098"/>
              </a:lnSpc>
              <a:buNone/>
            </a:pPr>
            <a:r>
              <a:rPr sz="2250">
                <a:solidFill>
                  <a:srgbClr val="5D5D60"/>
                </a:solidFill>
                <a:latin typeface="Arial"/>
                <a:ea typeface="Arial"/>
                <a:cs typeface="Arial"/>
              </a:rPr>
              <a:t>Səlahiyyət ayrılığı: imtahan mərkəzi nəticə və apellyasiyanı idarə edir, üzv və struktur idarəetməsinə müdaxilə etmir.</a:t>
            </a:r>
          </a:p>
        </p:txBody>
      </p:sp>
    </p:spTree>
    <p:extLst>
      <p:ext uri="{BB962C8B-B14F-4D97-AF65-F5344CB8AC3E}">
        <p14:creationId xmlns:p14="http://schemas.microsoft.com/office/powerpoint/2010/main" val="18318184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D2D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F7C967F-0B98-46C9-9EFB-BE26A006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71157"/>
            <a:ext cx="17811750" cy="3923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1800" b="1">
                <a:solidFill>
                  <a:srgbClr val="94BCE3"/>
                </a:solidFill>
                <a:latin typeface="Arial"/>
                <a:ea typeface="Arial"/>
                <a:cs typeface="Arial"/>
              </a:rPr>
              <a:t>BÖLMƏ 02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13911E-D188-40F8-B950-E69C2A9B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54005"/>
            <a:ext cx="16678275" cy="25023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5292"/>
              </a:lnSpc>
              <a:buNone/>
            </a:pPr>
            <a:r>
              <a:rPr sz="9900" b="1">
                <a:solidFill>
                  <a:srgbClr val="F2F2F3"/>
                </a:solidFill>
                <a:latin typeface="Arial"/>
                <a:ea typeface="Arial"/>
                <a:cs typeface="Arial"/>
              </a:rPr>
              <a:t>İmtahanın hazırlanması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8AE9D65-1762-4B16-8A24-86549C33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61090"/>
            <a:ext cx="10595610" cy="9639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7818"/>
              </a:lnSpc>
              <a:buNone/>
            </a:pPr>
            <a:r>
              <a:rPr sz="2700">
                <a:solidFill>
                  <a:srgbClr val="D6EBFF"/>
                </a:solidFill>
                <a:latin typeface="Arial"/>
                <a:ea typeface="Arial"/>
                <a:cs typeface="Arial"/>
              </a:rPr>
              <a:t>Sual bankı, toplu idxal və imtahan parametrləri — müəllimin iş yükünü azaldan hissə.</a:t>
            </a:r>
          </a:p>
        </p:txBody>
      </p:sp>
    </p:spTree>
    <p:extLst>
      <p:ext uri="{BB962C8B-B14F-4D97-AF65-F5344CB8AC3E}">
        <p14:creationId xmlns:p14="http://schemas.microsoft.com/office/powerpoint/2010/main" val="20447317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2F2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64C9307-90EC-4380-BB6A-F40610DF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38150"/>
            <a:ext cx="17811750" cy="3923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18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EKRAN · SUAL BANKI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083B29B-BB8A-43A0-962D-DEB91CE3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25748"/>
            <a:ext cx="17811750" cy="8191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7080"/>
              </a:lnSpc>
              <a:buNone/>
            </a:pPr>
            <a:r>
              <a:rPr sz="615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Mərkəzi sual bankı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BD489C9-62B5-410F-A95E-761B25E3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49649"/>
            <a:ext cx="1619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12B9863-9C9C-4502-8476-3367279A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63467"/>
            <a:ext cx="269304" cy="80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FFC35FD-2130-4ACD-B4A7-3097488C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354" y="4163467"/>
            <a:ext cx="6026457" cy="80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537"/>
              </a:lnSpc>
              <a:buNone/>
            </a:pPr>
            <a:r>
              <a:rPr sz="2250">
                <a:solidFill>
                  <a:srgbClr val="1D1F20"/>
                </a:solidFill>
                <a:latin typeface="Arial"/>
                <a:ea typeface="Arial"/>
                <a:cs typeface="Arial"/>
              </a:rPr>
              <a:t>Suallar mərkəzi bankda saxlanılır, imtahana isə dəyişməz nüsxə kimi daxil edilir.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18D429D-5C26-404E-9F75-439B4817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39680"/>
            <a:ext cx="309612" cy="80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2850444-36E7-4CD0-9E5B-14CF28AB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62" y="5239680"/>
            <a:ext cx="5984941" cy="80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537"/>
              </a:lnSpc>
              <a:buNone/>
            </a:pPr>
            <a:r>
              <a:rPr sz="2250">
                <a:solidFill>
                  <a:srgbClr val="1D1F20"/>
                </a:solidFill>
                <a:latin typeface="Arial"/>
                <a:ea typeface="Arial"/>
                <a:cs typeface="Arial"/>
              </a:rPr>
              <a:t>Test, yazılı, praktiki və şəkilli suallar; riyazi düsturlar dəstəklənir.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7FA2C01-0051-4575-A91E-2FE9C837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15894"/>
            <a:ext cx="309860" cy="80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CACAB0C-8677-4A50-BEB1-174506819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910" y="6315894"/>
            <a:ext cx="5984685" cy="80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537"/>
              </a:lnSpc>
              <a:buNone/>
            </a:pPr>
            <a:r>
              <a:rPr sz="2250">
                <a:solidFill>
                  <a:srgbClr val="1D1F20"/>
                </a:solidFill>
                <a:latin typeface="Arial"/>
                <a:ea typeface="Arial"/>
                <a:cs typeface="Arial"/>
              </a:rPr>
              <a:t>Hər sual üzrə çətinlik səviyyəsi və dil atributu; çoxdilli variantlar paralel saxlanılır.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8212197-0385-4DD5-A279-ED56CB28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392107"/>
            <a:ext cx="318666" cy="80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B62F89E-3AAE-4278-9681-E3755D5E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716" y="7392107"/>
            <a:ext cx="5975615" cy="80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537"/>
              </a:lnSpc>
              <a:buNone/>
            </a:pPr>
            <a:r>
              <a:rPr sz="2250">
                <a:solidFill>
                  <a:srgbClr val="1D1F20"/>
                </a:solidFill>
                <a:latin typeface="Arial"/>
                <a:ea typeface="Arial"/>
                <a:cs typeface="Arial"/>
              </a:rPr>
              <a:t>Keyfiyyət süzgəcləri: xətalı, xəbərdarlıqlı, dublikat və variant problemi olan suallar.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56C90190-9A18-4336-8F20-43D88E33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859" y="3012343"/>
            <a:ext cx="9348390" cy="6302375"/>
          </a:xfrm>
          <a:prstGeom xmlns:a="http://schemas.openxmlformats.org/drawingml/2006/main" prst="rect">
            <a:avLst/>
          </a:prstGeom>
          <a:ln xmlns:a="http://schemas.openxmlformats.org/drawingml/2006/main" w="7937">
            <a:solidFill>
              <a:srgbClr val="1F1F1F">
                <a:alpha val="16000"/>
              </a:srgbClr>
            </a:solidFill>
            <a:prstDash val="solid"/>
          </a:ln>
        </p:spPr>
      </p:sp>
      <p:pic>
        <p:nvPicPr>
          <p:cNvPr id="2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7aa94e891a4a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99797" y="3020281"/>
            <a:ext cx="9332515" cy="6286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5097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2F2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B9AAED4-38AF-4F02-9589-0BAE787F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38150"/>
            <a:ext cx="17811750" cy="3923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18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SUAL BANKI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A6FFB0B-01AC-47C1-9078-192D7B80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25748"/>
            <a:ext cx="17811750" cy="8191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7080"/>
              </a:lnSpc>
              <a:buNone/>
            </a:pPr>
            <a:r>
              <a:rPr sz="615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Toplu idxal və keyfiyyət nəzarəti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75C6293-937C-4DC6-8278-CE472F37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25861"/>
            <a:ext cx="1619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7ECE9ED-83B0-4435-B9FB-DC761023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04431"/>
            <a:ext cx="1989918" cy="248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4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İDXAL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395E288-3DB0-4754-8517-878B8071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51560"/>
            <a:ext cx="7829537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B8E66D5-89FA-4C62-94E9-F03F3C31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88097"/>
            <a:ext cx="8064423" cy="4237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537"/>
              </a:lnSpc>
              <a:buNone/>
            </a:pPr>
            <a:r>
              <a:rPr sz="2250">
                <a:solidFill>
                  <a:srgbClr val="1D1F20"/>
                </a:solidFill>
                <a:latin typeface="Arial"/>
                <a:ea typeface="Arial"/>
                <a:cs typeface="Arial"/>
              </a:rPr>
              <a:t>PDF və Word fayllarından sualların toplu idxalı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1A93806-C4AB-44F1-ADF8-3D572459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02361"/>
            <a:ext cx="7829537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A2346E1-783D-4D6F-92F9-55AA6FEE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38898"/>
            <a:ext cx="8064423" cy="4237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537"/>
              </a:lnSpc>
              <a:buNone/>
            </a:pPr>
            <a:r>
              <a:rPr sz="2250">
                <a:solidFill>
                  <a:srgbClr val="1D1F20"/>
                </a:solidFill>
                <a:latin typeface="Arial"/>
                <a:ea typeface="Arial"/>
                <a:cs typeface="Arial"/>
              </a:rPr>
              <a:t>Rənglə işarələnmiş düzgün cavabın avtomatik tanınması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791808D-906A-444D-99AC-0D715AB6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53162"/>
            <a:ext cx="7829537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DACD4E6-4097-4D5E-AFA0-156F852E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89699"/>
            <a:ext cx="8064423" cy="4237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537"/>
              </a:lnSpc>
              <a:buNone/>
            </a:pPr>
            <a:r>
              <a:rPr sz="2250">
                <a:solidFill>
                  <a:srgbClr val="1D1F20"/>
                </a:solidFill>
                <a:latin typeface="Arial"/>
                <a:ea typeface="Arial"/>
                <a:cs typeface="Arial"/>
              </a:rPr>
              <a:t>Riyazi düsturların şəkil kimi çıxarılıb suala əlavə olunması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CDFAD30-47F3-421A-B6B7-6FEDCCE8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054763"/>
            <a:ext cx="7829537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0784D087-953B-494B-82F8-3FC7B2A9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203962"/>
            <a:ext cx="7829537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9174D53-6392-4EAF-8A2C-57FC1F8C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440500"/>
            <a:ext cx="8064423" cy="4237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537"/>
              </a:lnSpc>
              <a:buNone/>
            </a:pPr>
            <a:r>
              <a:rPr sz="2250">
                <a:solidFill>
                  <a:srgbClr val="1D1F20"/>
                </a:solidFill>
                <a:latin typeface="Arial"/>
                <a:ea typeface="Arial"/>
                <a:cs typeface="Arial"/>
              </a:rPr>
              <a:t>Böyük fayllar arxa planda emal olunur; gediş izlənilir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2B3E0CD-41B1-4B2B-AFC4-C39C0AFA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650" y="2951695"/>
            <a:ext cx="4010882" cy="64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4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KEYFIYYƏT NƏZARƏTI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1CB3F822-CFB2-49EB-9CAC-59FF4A77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650" y="3651560"/>
            <a:ext cx="7829599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B0AE7B1-AA29-4C40-A280-94979362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650" y="3888097"/>
            <a:ext cx="8064487" cy="4237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537"/>
              </a:lnSpc>
              <a:buNone/>
            </a:pPr>
            <a:r>
              <a:rPr sz="2250">
                <a:solidFill>
                  <a:srgbClr val="1D1F20"/>
                </a:solidFill>
                <a:latin typeface="Arial"/>
                <a:ea typeface="Arial"/>
                <a:cs typeface="Arial"/>
              </a:rPr>
              <a:t>Təkrarlanan sualların avtomatik aşkarlanması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9E266B16-9FB6-4593-A49C-3D0F7560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650" y="4502361"/>
            <a:ext cx="7829599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E39A29D-3F35-426B-B1A1-68315808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650" y="4738898"/>
            <a:ext cx="8064487" cy="4237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537"/>
              </a:lnSpc>
              <a:buNone/>
            </a:pPr>
            <a:r>
              <a:rPr sz="2250">
                <a:solidFill>
                  <a:srgbClr val="1D1F20"/>
                </a:solidFill>
                <a:latin typeface="Arial"/>
                <a:ea typeface="Arial"/>
                <a:cs typeface="Arial"/>
              </a:rPr>
              <a:t>Çətinlik balansı və variant strukturunun yoxlanması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0C8532E-F526-4636-8D40-62E21451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650" y="5353162"/>
            <a:ext cx="7829599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D644BD3-6666-4AB7-BFA3-2B913553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650" y="5589699"/>
            <a:ext cx="8064487" cy="4237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537"/>
              </a:lnSpc>
              <a:buNone/>
            </a:pPr>
            <a:r>
              <a:rPr sz="2250">
                <a:solidFill>
                  <a:srgbClr val="1D1F20"/>
                </a:solidFill>
                <a:latin typeface="Arial"/>
                <a:ea typeface="Arial"/>
                <a:cs typeface="Arial"/>
              </a:rPr>
              <a:t>Yükləmədən əvvəl önizləmə və redaktə iş masası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4E019AA5-11EC-4A46-AE0E-B5E1851C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650" y="7054763"/>
            <a:ext cx="7829599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5CBE5444-1E86-4705-81AF-7671CE1E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650" y="6203962"/>
            <a:ext cx="7829599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86C5FBC-78C5-4F7D-B4A1-7B1CB56D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650" y="6440500"/>
            <a:ext cx="8064487" cy="4237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537"/>
              </a:lnSpc>
              <a:buNone/>
            </a:pPr>
            <a:r>
              <a:rPr sz="2250">
                <a:solidFill>
                  <a:srgbClr val="1D1F20"/>
                </a:solidFill>
                <a:latin typeface="Arial"/>
                <a:ea typeface="Arial"/>
                <a:cs typeface="Arial"/>
              </a:rPr>
              <a:t>Bank analizinin Excel hesabatı kimi ixracı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693D12C7-8E57-4B80-8771-EAD15762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450027"/>
            <a:ext cx="16192500" cy="10368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D3D"/>
          </a:solidFill>
          <a:ln xmlns:a="http://schemas.openxmlformats.org/drawingml/2006/main" w="7937">
            <a:solidFill>
              <a:srgbClr val="1D2D3D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3BC8B8CA-ED82-47B0-B507-AE3A8460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687" y="8762752"/>
            <a:ext cx="16956087" cy="4495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6494"/>
              </a:lnSpc>
              <a:buNone/>
            </a:pPr>
            <a:r>
              <a:rPr sz="2400">
                <a:solidFill>
                  <a:srgbClr val="F2F2F3"/>
                </a:solidFill>
                <a:latin typeface="Arial"/>
                <a:ea typeface="Arial"/>
                <a:cs typeface="Arial"/>
              </a:rPr>
              <a:t>Nəticə: bir dəfə hazırlanmış bank illər boyu təkrar istifadə olunur; imtahan hər dəfə sıfırdan yığılmır.</a:t>
            </a:r>
          </a:p>
        </p:txBody>
      </p:sp>
    </p:spTree>
    <p:extLst>
      <p:ext uri="{BB962C8B-B14F-4D97-AF65-F5344CB8AC3E}">
        <p14:creationId xmlns:p14="http://schemas.microsoft.com/office/powerpoint/2010/main" val="8729960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2F2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924E966-3EBE-465E-BAA2-D695D4DC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38150"/>
            <a:ext cx="17811750" cy="3923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18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İMTAHANIN YARADILMASI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09C0F59-347D-4C10-8EA9-ED3F80B4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25748"/>
            <a:ext cx="17811750" cy="8191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7080"/>
              </a:lnSpc>
              <a:buNone/>
            </a:pPr>
            <a:r>
              <a:rPr sz="615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Hər imtahan ayrıca konfiqurasiya olunur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FDD0AC0-BE7A-44C1-9568-2580EDDD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25861"/>
            <a:ext cx="1619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6EDAF1F-9EC6-4802-B493-094EE0B3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68712"/>
            <a:ext cx="5168925" cy="3037644"/>
          </a:xfrm>
          <a:prstGeom xmlns:a="http://schemas.openxmlformats.org/drawingml/2006/main" prst="rect">
            <a:avLst/>
          </a:prstGeom>
          <a:ln xmlns:a="http://schemas.openxmlformats.org/drawingml/2006/main" w="7937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247D041-48CB-43E5-8E9A-4AAA6BF1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550" y="3896010"/>
            <a:ext cx="4914057" cy="46480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7745"/>
              </a:lnSpc>
              <a:buNone/>
            </a:pPr>
            <a:r>
              <a:rPr sz="300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İmtahan növü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F66CCCD-FBC8-4EAD-99B3-23C4E298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550" y="4494113"/>
            <a:ext cx="4601344" cy="7848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182"/>
              </a:lnSpc>
              <a:buNone/>
            </a:pPr>
            <a:r>
              <a:rPr sz="2100">
                <a:solidFill>
                  <a:srgbClr val="424244"/>
                </a:solidFill>
                <a:latin typeface="Arial"/>
                <a:ea typeface="Arial"/>
                <a:cs typeface="Arial"/>
              </a:rPr>
              <a:t>Cari yoxlama, aralıq, final, tapşırıq və praktiki (proqramlaşdırma) formatı.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BE2A4F1-5328-47DB-B40E-7C34FF74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537" y="3068712"/>
            <a:ext cx="5168925" cy="3037644"/>
          </a:xfrm>
          <a:prstGeom xmlns:a="http://schemas.openxmlformats.org/drawingml/2006/main" prst="rect">
            <a:avLst/>
          </a:prstGeom>
          <a:ln xmlns:a="http://schemas.openxmlformats.org/drawingml/2006/main" w="7937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D283139-98CF-476F-BD17-AA8823DD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0338" y="3709355"/>
            <a:ext cx="4914057" cy="46480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7745"/>
              </a:lnSpc>
              <a:buNone/>
            </a:pPr>
            <a:r>
              <a:rPr sz="300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Müddət və cəhd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1974286-A25D-480D-8CD7-12428430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0338" y="4307458"/>
            <a:ext cx="4601344" cy="11582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182"/>
              </a:lnSpc>
              <a:buNone/>
            </a:pPr>
            <a:r>
              <a:rPr sz="2100">
                <a:solidFill>
                  <a:srgbClr val="424244"/>
                </a:solidFill>
                <a:latin typeface="Arial"/>
                <a:ea typeface="Arial"/>
                <a:cs typeface="Arial"/>
              </a:rPr>
              <a:t>Başlama-bitmə vaxtı, dəqiqə ilə müddət, cəhd limiti; texniki hal üçün fərdi əlavə cəhd.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04DE845-8B3B-4497-90FD-F3ABFD1B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1325" y="3068712"/>
            <a:ext cx="5168925" cy="3037644"/>
          </a:xfrm>
          <a:prstGeom xmlns:a="http://schemas.openxmlformats.org/drawingml/2006/main" prst="rect">
            <a:avLst/>
          </a:prstGeom>
          <a:ln xmlns:a="http://schemas.openxmlformats.org/drawingml/2006/main" w="7937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89C4505-0FCD-4CD5-993E-C0B472E1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2125" y="3709355"/>
            <a:ext cx="4914057" cy="46480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7745"/>
              </a:lnSpc>
              <a:buNone/>
            </a:pPr>
            <a:r>
              <a:rPr sz="300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Təsadüfi seçim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159A7C5-A8EF-4AF6-B07D-632FDECD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2125" y="4307458"/>
            <a:ext cx="4601344" cy="11582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182"/>
              </a:lnSpc>
              <a:buNone/>
            </a:pPr>
            <a:r>
              <a:rPr sz="2100">
                <a:solidFill>
                  <a:srgbClr val="424244"/>
                </a:solidFill>
                <a:latin typeface="Arial"/>
                <a:ea typeface="Arial"/>
                <a:cs typeface="Arial"/>
              </a:rPr>
              <a:t>Böyük bankdan hər tələbəyə fərqli suallar; sual və variantların ardıcıllığı qarışdırılır.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F324929-4E6F-4858-A017-751C32C0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449219"/>
            <a:ext cx="5168925" cy="3037706"/>
          </a:xfrm>
          <a:prstGeom xmlns:a="http://schemas.openxmlformats.org/drawingml/2006/main" prst="rect">
            <a:avLst/>
          </a:prstGeom>
          <a:ln xmlns:a="http://schemas.openxmlformats.org/drawingml/2006/main" w="7937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56ED04E-44B7-405B-8993-089A2D53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550" y="7089861"/>
            <a:ext cx="4914057" cy="46480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7745"/>
              </a:lnSpc>
              <a:buNone/>
            </a:pPr>
            <a:r>
              <a:rPr sz="300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Sual blokları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7EE5AB3-01A4-43C6-9F12-450EC70C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550" y="7687964"/>
            <a:ext cx="4601344" cy="11582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182"/>
              </a:lnSpc>
              <a:buNone/>
            </a:pPr>
            <a:r>
              <a:rPr sz="2100">
                <a:solidFill>
                  <a:srgbClr val="424244"/>
                </a:solidFill>
                <a:latin typeface="Arial"/>
                <a:ea typeface="Arial"/>
                <a:cs typeface="Arial"/>
              </a:rPr>
              <a:t>İmtahanı mövzu və ya bölmə üzrə bloklara ayırmaq, hər bloka ayrıca vaxt vermək.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A4F92955-74ED-4914-A03D-2198D8BD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537" y="6449219"/>
            <a:ext cx="5168925" cy="3037706"/>
          </a:xfrm>
          <a:prstGeom xmlns:a="http://schemas.openxmlformats.org/drawingml/2006/main" prst="rect">
            <a:avLst/>
          </a:prstGeom>
          <a:ln xmlns:a="http://schemas.openxmlformats.org/drawingml/2006/main" w="7937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7941E72-571F-44DF-8684-52094B1A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0338" y="7089861"/>
            <a:ext cx="4914057" cy="46480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7745"/>
              </a:lnSpc>
              <a:buNone/>
            </a:pPr>
            <a:r>
              <a:rPr sz="300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Nəzarət səviyyəsi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4C621C6-5577-406C-ABCC-25DD9A28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0338" y="7687964"/>
            <a:ext cx="4601344" cy="11582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182"/>
              </a:lnSpc>
              <a:buNone/>
            </a:pPr>
            <a:r>
              <a:rPr sz="2100">
                <a:solidFill>
                  <a:srgbClr val="424244"/>
                </a:solidFill>
                <a:latin typeface="Arial"/>
                <a:ea typeface="Arial"/>
                <a:cs typeface="Arial"/>
              </a:rPr>
              <a:t>Yumşaq, standart və sərt profillər: tam ekran, tab dəyişmə, kopyalama məhdudiyyəti.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A7C81EB7-031E-4570-A9D1-F815E991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1325" y="6449219"/>
            <a:ext cx="5168925" cy="3037706"/>
          </a:xfrm>
          <a:prstGeom xmlns:a="http://schemas.openxmlformats.org/drawingml/2006/main" prst="rect">
            <a:avLst/>
          </a:prstGeom>
          <a:ln xmlns:a="http://schemas.openxmlformats.org/drawingml/2006/main" w="7937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EF2FD14-3043-4D08-92AB-637FB520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2125" y="7276579"/>
            <a:ext cx="4914057" cy="46480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7745"/>
              </a:lnSpc>
              <a:buNone/>
            </a:pPr>
            <a:r>
              <a:rPr sz="300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Həyat dövrü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5AB49F4-E31E-41E5-AB64-745D541E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2125" y="7874682"/>
            <a:ext cx="4601344" cy="7848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182"/>
              </a:lnSpc>
              <a:buNone/>
            </a:pPr>
            <a:r>
              <a:rPr sz="2100">
                <a:solidFill>
                  <a:srgbClr val="424244"/>
                </a:solidFill>
                <a:latin typeface="Arial"/>
                <a:ea typeface="Arial"/>
                <a:cs typeface="Arial"/>
              </a:rPr>
              <a:t>Qaralama → dərc → arxiv. Hazır imtahanın dublikatı bir kliklə yaradılır.</a:t>
            </a:r>
          </a:p>
        </p:txBody>
      </p:sp>
    </p:spTree>
    <p:extLst>
      <p:ext uri="{BB962C8B-B14F-4D97-AF65-F5344CB8AC3E}">
        <p14:creationId xmlns:p14="http://schemas.microsoft.com/office/powerpoint/2010/main" val="126697585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D2D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D8D1E8B-9C09-42F3-AACF-E9D5A562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403268"/>
            <a:ext cx="17811750" cy="3923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1800" b="1">
                <a:solidFill>
                  <a:srgbClr val="94BCE3"/>
                </a:solidFill>
                <a:latin typeface="Arial"/>
                <a:ea typeface="Arial"/>
                <a:cs typeface="Arial"/>
              </a:rPr>
              <a:t>BÖLMƏ 03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3C7A555-0D95-463B-AEC8-CDFEE157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986116"/>
            <a:ext cx="17811750" cy="12702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5292"/>
              </a:lnSpc>
              <a:buNone/>
            </a:pPr>
            <a:r>
              <a:rPr sz="9900" b="1">
                <a:solidFill>
                  <a:srgbClr val="F2F2F3"/>
                </a:solidFill>
                <a:latin typeface="Arial"/>
                <a:ea typeface="Arial"/>
                <a:cs typeface="Arial"/>
              </a:rPr>
              <a:t>İmtahan günü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F734E5A-1474-4696-B07D-FE127A54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61090"/>
            <a:ext cx="10595610" cy="9639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7818"/>
              </a:lnSpc>
              <a:buNone/>
            </a:pPr>
            <a:r>
              <a:rPr sz="2700">
                <a:solidFill>
                  <a:srgbClr val="D6EBFF"/>
                </a:solidFill>
                <a:latin typeface="Arial"/>
                <a:ea typeface="Arial"/>
                <a:cs typeface="Arial"/>
              </a:rPr>
              <a:t>Zalın açılmasından təhvilə qədər: PIN girişi, tələbə interfeysi və canlı nəzarət.</a:t>
            </a:r>
          </a:p>
        </p:txBody>
      </p:sp>
    </p:spTree>
    <p:extLst>
      <p:ext uri="{BB962C8B-B14F-4D97-AF65-F5344CB8AC3E}">
        <p14:creationId xmlns:p14="http://schemas.microsoft.com/office/powerpoint/2010/main" val="27732114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2F2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116F68F-C6A8-445C-8C85-80E1717D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38150"/>
            <a:ext cx="17811750" cy="3923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18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EKRAN · İMTAHAN MƏRKƏZI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C25E30C-FC1C-446C-BCD0-2655CB4A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25748"/>
            <a:ext cx="17811750" cy="8191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7080"/>
              </a:lnSpc>
              <a:buNone/>
            </a:pPr>
            <a:r>
              <a:rPr sz="615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Zallar, oturumlar və nəzarətçilər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EE16AE7-A9E9-4B11-87B0-E69C715F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49649"/>
            <a:ext cx="1619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AF7E689-A34B-43E2-A90C-3AB88863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7754"/>
            <a:ext cx="269304" cy="80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C8800DC-280F-484B-9C57-B25C6BD0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354" y="3777754"/>
            <a:ext cx="4454694" cy="80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537"/>
              </a:lnSpc>
              <a:buNone/>
            </a:pPr>
            <a:r>
              <a:rPr sz="2250">
                <a:solidFill>
                  <a:srgbClr val="1D1F20"/>
                </a:solidFill>
                <a:latin typeface="Arial"/>
                <a:ea typeface="Arial"/>
                <a:cs typeface="Arial"/>
              </a:rPr>
              <a:t>Zallar, oradakı kompüterlər və tutum sistemdə qeydiyyatdadır.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D45E7D8-ED42-44F9-9881-DAAB81D7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3967"/>
            <a:ext cx="309612" cy="11952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0FE7B6B-6CA9-49FA-823E-D396614C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62" y="4853967"/>
            <a:ext cx="4413177" cy="11952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537"/>
              </a:lnSpc>
              <a:buNone/>
            </a:pPr>
            <a:r>
              <a:rPr sz="2250">
                <a:solidFill>
                  <a:srgbClr val="1D1F20"/>
                </a:solidFill>
                <a:latin typeface="Arial"/>
                <a:ea typeface="Arial"/>
                <a:cs typeface="Arial"/>
              </a:rPr>
              <a:t>Hər tələbəyə zal və oturacaq nömrəsi ilə fərdi imtahan bileti verilir.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CD8931E-B17B-4943-A723-F5072D01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15894"/>
            <a:ext cx="309860" cy="80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C183DC1-0A8F-4609-8F21-7B0C1C61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910" y="6315894"/>
            <a:ext cx="4412921" cy="80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537"/>
              </a:lnSpc>
              <a:buNone/>
            </a:pPr>
            <a:r>
              <a:rPr sz="2250">
                <a:solidFill>
                  <a:srgbClr val="1D1F20"/>
                </a:solidFill>
                <a:latin typeface="Arial"/>
                <a:ea typeface="Arial"/>
                <a:cs typeface="Arial"/>
              </a:rPr>
              <a:t>Oturumun vəziyyəti izlənilir: hazırlanır, giriş açıq, aktiv, bitmiş.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E9D2617-0D28-4EBA-8290-033AA860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392107"/>
            <a:ext cx="318666" cy="11952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E62EEF5-D36E-4395-B9B8-B4370121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716" y="7392107"/>
            <a:ext cx="4403851" cy="11952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537"/>
              </a:lnSpc>
              <a:buNone/>
            </a:pPr>
            <a:r>
              <a:rPr sz="2250">
                <a:solidFill>
                  <a:srgbClr val="1D1F20"/>
                </a:solidFill>
                <a:latin typeface="Arial"/>
                <a:ea typeface="Arial"/>
                <a:cs typeface="Arial"/>
              </a:rPr>
              <a:t>Nəzarətçi təyinatı və canlı nəzarətə keçid eyni kartdan aparılır.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2C6496C-B1BA-444A-B0D5-4001489E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5875" y="3286373"/>
            <a:ext cx="10874375" cy="5754253"/>
          </a:xfrm>
          <a:prstGeom xmlns:a="http://schemas.openxmlformats.org/drawingml/2006/main" prst="rect">
            <a:avLst/>
          </a:prstGeom>
          <a:ln xmlns:a="http://schemas.openxmlformats.org/drawingml/2006/main" w="7937">
            <a:solidFill>
              <a:srgbClr val="1F1F1F">
                <a:alpha val="16000"/>
              </a:srgbClr>
            </a:solidFill>
            <a:prstDash val="solid"/>
          </a:ln>
        </p:spPr>
      </p:sp>
      <p:pic>
        <p:nvPicPr>
          <p:cNvPr id="2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5f4c8c595945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73812" y="3294311"/>
            <a:ext cx="10858500" cy="573837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68261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2F2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B73BC2F-F3AE-4ACE-BFE5-A45CA6EF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38150"/>
            <a:ext cx="17811750" cy="3923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18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EKRAN · FINAL GIRIŞI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413E1C4-01B5-4FFD-B01D-DAFB4181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25748"/>
            <a:ext cx="17811750" cy="8191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7080"/>
              </a:lnSpc>
              <a:buNone/>
            </a:pPr>
            <a:r>
              <a:rPr sz="615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Fərdi PIN ilə imtahana buraxılış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8FF4804-C0E6-44BF-BB42-9CC3C9FE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49649"/>
            <a:ext cx="1619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79CC4B7-24CC-4546-8988-839B4496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25391"/>
            <a:ext cx="269304" cy="80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5FF08E6-5E9E-4925-9508-4C8F6B29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354" y="3625391"/>
            <a:ext cx="5721213" cy="80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537"/>
              </a:lnSpc>
              <a:buNone/>
            </a:pPr>
            <a:r>
              <a:rPr sz="2250">
                <a:solidFill>
                  <a:srgbClr val="1D1F20"/>
                </a:solidFill>
                <a:latin typeface="Arial"/>
                <a:ea typeface="Arial"/>
                <a:cs typeface="Arial"/>
              </a:rPr>
              <a:t>Hər imtahan–tələbə cütü üçün yalnız bir unikal PIN mövcuddur.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57D8CCA-1EFB-475C-A5F5-0AA21B85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01604"/>
            <a:ext cx="309612" cy="80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29D6BAB-3931-4552-9583-790B855A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62" y="4701604"/>
            <a:ext cx="5679696" cy="80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537"/>
              </a:lnSpc>
              <a:buNone/>
            </a:pPr>
            <a:r>
              <a:rPr sz="2250">
                <a:solidFill>
                  <a:srgbClr val="1D1F20"/>
                </a:solidFill>
                <a:latin typeface="Arial"/>
                <a:ea typeface="Arial"/>
                <a:cs typeface="Arial"/>
              </a:rPr>
              <a:t>PIN verilənlər bazasında heşlənmiş və şifrələnmiş formada saxlanılır.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47CA727-1A9C-41EC-A6A2-9AA34B73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77818"/>
            <a:ext cx="309860" cy="80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8E4B148-B6F1-40E5-A87C-9F596E61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910" y="5777818"/>
            <a:ext cx="5679440" cy="80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537"/>
              </a:lnSpc>
              <a:buNone/>
            </a:pPr>
            <a:r>
              <a:rPr sz="2250">
                <a:solidFill>
                  <a:srgbClr val="1D1F20"/>
                </a:solidFill>
                <a:latin typeface="Arial"/>
                <a:ea typeface="Arial"/>
                <a:cs typeface="Arial"/>
              </a:rPr>
              <a:t>Səhv cəhdlərə sürət limiti tətbiq olunur; hər cəhd jurnala yazılır.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67B8E1A-0911-4008-BB7B-00FF6E43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854031"/>
            <a:ext cx="318666" cy="80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68C69DD-3202-4A86-9877-2E1F3B62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716" y="6854031"/>
            <a:ext cx="5670370" cy="80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537"/>
              </a:lnSpc>
              <a:buNone/>
            </a:pPr>
            <a:r>
              <a:rPr sz="2250">
                <a:solidFill>
                  <a:srgbClr val="1D1F20"/>
                </a:solidFill>
                <a:latin typeface="Arial"/>
                <a:ea typeface="Arial"/>
                <a:cs typeface="Arial"/>
              </a:rPr>
              <a:t>Girişdən sonra tələbə imtahan dilini seçir və qaydaları təsdiqləyir.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15CC75E-91E7-4E13-A937-6747E947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930244"/>
            <a:ext cx="310418" cy="80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F8AE6BC-7022-44A2-938F-7CF10245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468" y="7930244"/>
            <a:ext cx="5678866" cy="80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537"/>
              </a:lnSpc>
              <a:buNone/>
            </a:pPr>
            <a:r>
              <a:rPr sz="2250">
                <a:solidFill>
                  <a:srgbClr val="1D1F20"/>
                </a:solidFill>
                <a:latin typeface="Arial"/>
                <a:ea typeface="Arial"/>
                <a:cs typeface="Arial"/>
              </a:rPr>
              <a:t>İmtahan bitdikdən sonra PIN təkrar istifadə üçün etibarsız sayılır.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FF096655-78F1-4DD0-8088-800897437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5505" y="2917093"/>
            <a:ext cx="9644744" cy="6492875"/>
          </a:xfrm>
          <a:prstGeom xmlns:a="http://schemas.openxmlformats.org/drawingml/2006/main" prst="rect">
            <a:avLst/>
          </a:prstGeom>
          <a:ln xmlns:a="http://schemas.openxmlformats.org/drawingml/2006/main" w="7937">
            <a:solidFill>
              <a:srgbClr val="1F1F1F">
                <a:alpha val="16000"/>
              </a:srgbClr>
            </a:solidFill>
            <a:prstDash val="solid"/>
          </a:ln>
        </p:spPr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fa4196f36544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03443" y="2925031"/>
            <a:ext cx="9628869" cy="647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4506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2F2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5AB4A5E-D58F-4A85-A4C9-BAE6220D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38150"/>
            <a:ext cx="17811750" cy="3923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18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EKRAN · TƏLƏBƏ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3B8DB4E-D9E7-4C22-AC52-578BF15A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25748"/>
            <a:ext cx="17811750" cy="8191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7080"/>
              </a:lnSpc>
              <a:buNone/>
            </a:pPr>
            <a:r>
              <a:rPr sz="615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Tələbənin imtahan interfeysi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5A7FE37-69FB-45A1-9564-312DD35D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49649"/>
            <a:ext cx="1619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3E5C677-7DE2-4721-95A0-1D4F6F19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6822"/>
            <a:ext cx="269304" cy="80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B6F1FA9-EC3A-4EA1-861A-696E9A03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354" y="3046822"/>
            <a:ext cx="5237446" cy="80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537"/>
              </a:lnSpc>
              <a:buNone/>
            </a:pPr>
            <a:r>
              <a:rPr sz="2250">
                <a:solidFill>
                  <a:srgbClr val="1D1F20"/>
                </a:solidFill>
                <a:latin typeface="Arial"/>
                <a:ea typeface="Arial"/>
                <a:cs typeface="Arial"/>
              </a:rPr>
              <a:t>Taymer və qalan vaxt daim görünür; vaxt bitdikdə imtahan avtomatik təhvil verilir.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721F7B5-5508-4AD5-A736-67002EBC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23035"/>
            <a:ext cx="309612" cy="11952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0709A72-26C3-440E-8294-1BD6747B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62" y="4123035"/>
            <a:ext cx="5195929" cy="11952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537"/>
              </a:lnSpc>
              <a:buNone/>
            </a:pPr>
            <a:r>
              <a:rPr sz="2250">
                <a:solidFill>
                  <a:srgbClr val="1D1F20"/>
                </a:solidFill>
                <a:latin typeface="Arial"/>
                <a:ea typeface="Arial"/>
                <a:cs typeface="Arial"/>
              </a:rPr>
              <a:t>Sual naviqasiyası cavablanmış, işarələnmiş və cavabsız sualları fərqləndirir.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1F1399A-EE03-4D17-9CAE-41C206B9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84961"/>
            <a:ext cx="309860" cy="80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00977CC-D5D4-46F3-A2AD-68AC90F7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910" y="5584961"/>
            <a:ext cx="5195674" cy="80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537"/>
              </a:lnSpc>
              <a:buNone/>
            </a:pPr>
            <a:r>
              <a:rPr sz="2250">
                <a:solidFill>
                  <a:srgbClr val="1D1F20"/>
                </a:solidFill>
                <a:latin typeface="Arial"/>
                <a:ea typeface="Arial"/>
                <a:cs typeface="Arial"/>
              </a:rPr>
              <a:t>Cavablar seçilən kimi və müntəzəm intervallarla serverə yazılır.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D8268D6-34CB-4175-BA4E-A64D716D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61175"/>
            <a:ext cx="318666" cy="11952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1ECFA61-84A4-4595-92D1-FDE57322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716" y="6661175"/>
            <a:ext cx="5186604" cy="11952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537"/>
              </a:lnSpc>
              <a:buNone/>
            </a:pPr>
            <a:r>
              <a:rPr sz="2250">
                <a:solidFill>
                  <a:srgbClr val="1D1F20"/>
                </a:solidFill>
                <a:latin typeface="Arial"/>
                <a:ea typeface="Arial"/>
                <a:cs typeface="Arial"/>
              </a:rPr>
              <a:t>İnternet qısa müddətə kəsilsə cavablar itmir; bağlantı bərpa olunanda sinxronlaşır.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8DA1C6B-9526-4CA6-B223-F10E2B00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123101"/>
            <a:ext cx="310418" cy="11952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C61CA55-E7D9-422A-87F8-6BEE3C48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468" y="8123101"/>
            <a:ext cx="5195099" cy="11952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537"/>
              </a:lnSpc>
              <a:buNone/>
            </a:pPr>
            <a:r>
              <a:rPr sz="2250">
                <a:solidFill>
                  <a:srgbClr val="1D1F20"/>
                </a:solidFill>
                <a:latin typeface="Arial"/>
                <a:ea typeface="Arial"/>
                <a:cs typeface="Arial"/>
              </a:rPr>
              <a:t>Tam ekran rejimi, tab dəyişmənin qeydə alınması və kopyalama bloku — imtahan parametrindən asılı olaraq.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A4C07EFE-BB7C-438F-BE6A-7CBD49D6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828" y="2964718"/>
            <a:ext cx="10114421" cy="6397625"/>
          </a:xfrm>
          <a:prstGeom xmlns:a="http://schemas.openxmlformats.org/drawingml/2006/main" prst="rect">
            <a:avLst/>
          </a:prstGeom>
          <a:ln xmlns:a="http://schemas.openxmlformats.org/drawingml/2006/main" w="7937">
            <a:solidFill>
              <a:srgbClr val="1F1F1F">
                <a:alpha val="16000"/>
              </a:srgbClr>
            </a:solidFill>
            <a:prstDash val="solid"/>
          </a:ln>
        </p:spPr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5fbb1fb7e144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33766" y="2972656"/>
            <a:ext cx="10098546" cy="6381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0281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2F2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F0B00BC-81A6-44E1-AC92-0CA998D9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38150"/>
            <a:ext cx="17811750" cy="3923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18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EKRAN · NƏZARƏT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EF5F94D-6F12-4751-BC8D-BCCC5772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25748"/>
            <a:ext cx="17811750" cy="8191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7080"/>
              </a:lnSpc>
              <a:buNone/>
            </a:pPr>
            <a:r>
              <a:rPr sz="615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İmtahanın canlı monitorinqi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5ECAEF6-4C2C-430B-9559-D93B163C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49649"/>
            <a:ext cx="1619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2E5EB8D-128A-4C83-A475-272A9222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63467"/>
            <a:ext cx="269304" cy="80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1112ABF-7C39-4392-B25C-3C9A47D6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354" y="4163467"/>
            <a:ext cx="6481035" cy="80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537"/>
              </a:lnSpc>
              <a:buNone/>
            </a:pPr>
            <a:r>
              <a:rPr sz="2250">
                <a:solidFill>
                  <a:srgbClr val="1D1F20"/>
                </a:solidFill>
                <a:latin typeface="Arial"/>
                <a:ea typeface="Arial"/>
                <a:cs typeface="Arial"/>
              </a:rPr>
              <a:t>Kim daxil olub, kim imtahandadır, kim təhvil verib — real vaxtda.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4E5D833-8B40-4083-A107-ED472CF0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39680"/>
            <a:ext cx="309612" cy="80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1C9DD51-102F-4D7A-8F24-95C5E386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62" y="5239680"/>
            <a:ext cx="6439518" cy="80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537"/>
              </a:lnSpc>
              <a:buNone/>
            </a:pPr>
            <a:r>
              <a:rPr sz="2250">
                <a:solidFill>
                  <a:srgbClr val="1D1F20"/>
                </a:solidFill>
                <a:latin typeface="Arial"/>
                <a:ea typeface="Arial"/>
                <a:cs typeface="Arial"/>
              </a:rPr>
              <a:t>Pozuntular səviyyə üzrə rənglənir; ən riskli tələbələr dərhal seçilir.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6121C49-B243-40A8-A54A-100EEB23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15894"/>
            <a:ext cx="309860" cy="80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52C752D-9569-4C99-8138-6338D021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910" y="6315894"/>
            <a:ext cx="6439263" cy="80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537"/>
              </a:lnSpc>
              <a:buNone/>
            </a:pPr>
            <a:r>
              <a:rPr sz="2250">
                <a:solidFill>
                  <a:srgbClr val="1D1F20"/>
                </a:solidFill>
                <a:latin typeface="Arial"/>
                <a:ea typeface="Arial"/>
                <a:cs typeface="Arial"/>
              </a:rPr>
              <a:t>Fərdi müdaxilə: müvəqqəti blok, bərpa, imtahandan çıxarma, əlavə cəhd.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BB289D0-3911-4BB7-B5AB-875CC029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392107"/>
            <a:ext cx="318666" cy="80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053A102-3908-4F7E-9B6B-592C7E2F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716" y="7392107"/>
            <a:ext cx="6430193" cy="80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537"/>
              </a:lnSpc>
              <a:buNone/>
            </a:pPr>
            <a:r>
              <a:rPr sz="2250">
                <a:solidFill>
                  <a:srgbClr val="1D1F20"/>
                </a:solidFill>
                <a:latin typeface="Arial"/>
                <a:ea typeface="Arial"/>
                <a:cs typeface="Arial"/>
              </a:rPr>
              <a:t>İnsident jurnalı: tam ekrandan çıxma, tab dəyişmə, kopyalama cəhdi.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DEEE60FB-3BAE-4279-AFC7-C3B49258D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197" y="2917093"/>
            <a:ext cx="8907053" cy="6492875"/>
          </a:xfrm>
          <a:prstGeom xmlns:a="http://schemas.openxmlformats.org/drawingml/2006/main" prst="rect">
            <a:avLst/>
          </a:prstGeom>
          <a:ln xmlns:a="http://schemas.openxmlformats.org/drawingml/2006/main" w="7937">
            <a:solidFill>
              <a:srgbClr val="1F1F1F">
                <a:alpha val="16000"/>
              </a:srgbClr>
            </a:solidFill>
            <a:prstDash val="solid"/>
          </a:ln>
        </p:spPr>
      </p:sp>
      <p:pic>
        <p:nvPicPr>
          <p:cNvPr id="2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3c96264f6b44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41134" y="2925031"/>
            <a:ext cx="8891178" cy="647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69960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D2D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F4FBC22-FE8F-4D50-9B8B-EB1FC50F2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07744"/>
            <a:ext cx="17811750" cy="3923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1800" b="1">
                <a:solidFill>
                  <a:srgbClr val="94BCE3"/>
                </a:solidFill>
                <a:latin typeface="Arial"/>
                <a:ea typeface="Arial"/>
                <a:cs typeface="Arial"/>
              </a:rPr>
              <a:t>BÖLMƏ 04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F1CD63F-D1AC-4926-A230-C0B5F84B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90592"/>
            <a:ext cx="16678275" cy="37344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5292"/>
              </a:lnSpc>
              <a:buNone/>
            </a:pPr>
            <a:r>
              <a:rPr sz="9900" b="1">
                <a:solidFill>
                  <a:srgbClr val="F2F2F3"/>
                </a:solidFill>
                <a:latin typeface="Arial"/>
                <a:ea typeface="Arial"/>
                <a:cs typeface="Arial"/>
              </a:rPr>
              <a:t>Nəticə, apellyasiya, etibarlılıq</a:t>
            </a:r>
          </a:p>
        </p:txBody>
      </p:sp>
    </p:spTree>
    <p:extLst>
      <p:ext uri="{BB962C8B-B14F-4D97-AF65-F5344CB8AC3E}">
        <p14:creationId xmlns:p14="http://schemas.microsoft.com/office/powerpoint/2010/main" val="128939226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2F2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1432D37-9FBD-4D21-A2A3-D4E2B483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38150"/>
            <a:ext cx="17811750" cy="3923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18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EKRAN · NƏTICƏ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B3B2D59-9036-4CC0-8529-6EFF75B7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25748"/>
            <a:ext cx="17811750" cy="8191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7080"/>
              </a:lnSpc>
              <a:buNone/>
            </a:pPr>
            <a:r>
              <a:rPr sz="615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Qiymətləndirmə və nəticələr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150FE2D-4594-40CB-AB29-CDDF6F7E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49649"/>
            <a:ext cx="1619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F841855-29A5-41A9-8E25-C317FCA2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25391"/>
            <a:ext cx="269304" cy="80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C302943-3605-43D5-AC66-2C67335B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354" y="3625391"/>
            <a:ext cx="5699433" cy="80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537"/>
              </a:lnSpc>
              <a:buNone/>
            </a:pPr>
            <a:r>
              <a:rPr sz="2250">
                <a:solidFill>
                  <a:srgbClr val="1D1F20"/>
                </a:solidFill>
                <a:latin typeface="Arial"/>
                <a:ea typeface="Arial"/>
                <a:cs typeface="Arial"/>
              </a:rPr>
              <a:t>Test cavabları təhvil anında avtomatik qiymətləndirilir; bal və faiz dərhal hazır olur.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3BB13FD-C87B-4F8A-85E0-D29CC98D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01604"/>
            <a:ext cx="309612" cy="80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6E90EA9-2758-4127-98F4-D3694D2C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62" y="4701604"/>
            <a:ext cx="5657915" cy="80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537"/>
              </a:lnSpc>
              <a:buNone/>
            </a:pPr>
            <a:r>
              <a:rPr sz="2250">
                <a:solidFill>
                  <a:srgbClr val="1D1F20"/>
                </a:solidFill>
                <a:latin typeface="Arial"/>
                <a:ea typeface="Arial"/>
                <a:cs typeface="Arial"/>
              </a:rPr>
              <a:t>Nəticə məhz tələbəyə göstərilən suallar əsasında hesablanır.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C0CA9CC-7FE5-41D1-81C3-5E386F78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77818"/>
            <a:ext cx="309860" cy="80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C60155B-60CD-4881-B43C-6190DDD5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910" y="5777818"/>
            <a:ext cx="5657660" cy="80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537"/>
              </a:lnSpc>
              <a:buNone/>
            </a:pPr>
            <a:r>
              <a:rPr sz="2250">
                <a:solidFill>
                  <a:srgbClr val="1D1F20"/>
                </a:solidFill>
                <a:latin typeface="Arial"/>
                <a:ea typeface="Arial"/>
                <a:cs typeface="Arial"/>
              </a:rPr>
              <a:t>Yazılı və praktiki cavablar müəllimin qiymətləndirmə interfeysində yoxlanılır.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913E00D-BE24-4903-98FB-91667447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854031"/>
            <a:ext cx="318666" cy="80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DFF1D91-038E-4B46-8D74-112A9845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716" y="6854031"/>
            <a:ext cx="5648590" cy="80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537"/>
              </a:lnSpc>
              <a:buNone/>
            </a:pPr>
            <a:r>
              <a:rPr sz="2250">
                <a:solidFill>
                  <a:srgbClr val="1D1F20"/>
                </a:solidFill>
                <a:latin typeface="Arial"/>
                <a:ea typeface="Arial"/>
                <a:cs typeface="Arial"/>
              </a:rPr>
              <a:t>Nəticələr nəzarətli şəkildə elan olunur — elanadək tələbəyə görünmür.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16A7035-06E9-4B0C-B2C2-BE9B45AF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930244"/>
            <a:ext cx="310418" cy="80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6723F3C-049A-4819-9DA3-C3F37861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468" y="7930244"/>
            <a:ext cx="5657085" cy="80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8537"/>
              </a:lnSpc>
              <a:buNone/>
            </a:pPr>
            <a:r>
              <a:rPr sz="2250">
                <a:solidFill>
                  <a:srgbClr val="1D1F20"/>
                </a:solidFill>
                <a:latin typeface="Arial"/>
                <a:ea typeface="Arial"/>
                <a:cs typeface="Arial"/>
              </a:rPr>
              <a:t>Bütün bal dəyişiklikləri qiymət hadisələri jurnalında saxlanılır.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DDC9B24-A219-4511-BEF9-6378DC76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359" y="2917093"/>
            <a:ext cx="9665890" cy="6492875"/>
          </a:xfrm>
          <a:prstGeom xmlns:a="http://schemas.openxmlformats.org/drawingml/2006/main" prst="rect">
            <a:avLst/>
          </a:prstGeom>
          <a:ln xmlns:a="http://schemas.openxmlformats.org/drawingml/2006/main" w="7937">
            <a:solidFill>
              <a:srgbClr val="1F1F1F">
                <a:alpha val="16000"/>
              </a:srgbClr>
            </a:solidFill>
            <a:prstDash val="solid"/>
          </a:ln>
        </p:spPr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e7b57fb9c847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82296" y="2925031"/>
            <a:ext cx="9650016" cy="647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12808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2F2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19499C9-E561-4A3B-987B-A9552FDA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38150"/>
            <a:ext cx="17811750" cy="3923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18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APELLYASIYA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DFC3E17-523E-42E0-AE66-F951AADE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25748"/>
            <a:ext cx="17811750" cy="8191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7080"/>
              </a:lnSpc>
              <a:buNone/>
            </a:pPr>
            <a:r>
              <a:rPr sz="615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Müraciətdən yekun qərara qədər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BF5BF85-C92B-4D28-902B-BDE78423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25861"/>
            <a:ext cx="1619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180B80B-24A5-4C38-8640-FF62E969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68712"/>
            <a:ext cx="3009863" cy="4953000"/>
          </a:xfrm>
          <a:prstGeom xmlns:a="http://schemas.openxmlformats.org/drawingml/2006/main" prst="rect">
            <a:avLst/>
          </a:prstGeom>
          <a:ln xmlns:a="http://schemas.openxmlformats.org/drawingml/2006/main" w="7937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57E85A8-795A-4D86-BC1C-6AFB7757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300" y="3381437"/>
            <a:ext cx="2748638" cy="4219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6225"/>
              </a:lnSpc>
              <a:buNone/>
            </a:pPr>
            <a:r>
              <a:rPr sz="195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4805254-F311-4C2C-9C37-BAA8B37E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300" y="3955789"/>
            <a:ext cx="2748638" cy="4381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1636"/>
              </a:lnSpc>
              <a:buNone/>
            </a:pPr>
            <a:r>
              <a:rPr sz="300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Müraciət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777D7E0-ACB1-44A0-8B50-15F15086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300" y="4508190"/>
            <a:ext cx="2574962" cy="183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7818"/>
              </a:lnSpc>
              <a:buNone/>
            </a:pPr>
            <a:r>
              <a:rPr sz="2100">
                <a:solidFill>
                  <a:srgbClr val="5D5D60"/>
                </a:solidFill>
                <a:latin typeface="Arial"/>
                <a:ea typeface="Arial"/>
                <a:cs typeface="Arial"/>
              </a:rPr>
              <a:t>Tələbə nəticəni gördükdən sonra, müəyyən müddət ərzində müraciət edir.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3E12E22-EF5B-4236-BA53-48C262B7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363" y="3068712"/>
            <a:ext cx="3009925" cy="4953000"/>
          </a:xfrm>
          <a:prstGeom xmlns:a="http://schemas.openxmlformats.org/drawingml/2006/main" prst="rect">
            <a:avLst/>
          </a:prstGeom>
          <a:ln xmlns:a="http://schemas.openxmlformats.org/drawingml/2006/main" w="7937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EEF8F35-6CF2-4882-93F3-CF9DE7FA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8913" y="3381437"/>
            <a:ext cx="2748707" cy="4219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6225"/>
              </a:lnSpc>
              <a:buNone/>
            </a:pPr>
            <a:r>
              <a:rPr sz="195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CBE88A0-8F46-4C5B-8D50-F16A4310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8913" y="3955789"/>
            <a:ext cx="2748707" cy="4381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1636"/>
              </a:lnSpc>
              <a:buNone/>
            </a:pPr>
            <a:r>
              <a:rPr sz="300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Əsaslandırma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F89A0E2-5C05-489C-A328-7E58E233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8913" y="4508190"/>
            <a:ext cx="2575024" cy="1478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7818"/>
              </a:lnSpc>
              <a:buNone/>
            </a:pPr>
            <a:r>
              <a:rPr sz="2100">
                <a:solidFill>
                  <a:srgbClr val="5D5D60"/>
                </a:solidFill>
                <a:latin typeface="Arial"/>
                <a:ea typeface="Arial"/>
                <a:cs typeface="Arial"/>
              </a:rPr>
              <a:t>Bir və ya bir neçə sual seçilir; hər biri üçün mətnli əsaslandırma tələb olunur.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327C118-E349-482E-A306-53CCC25E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37" y="3068712"/>
            <a:ext cx="3009863" cy="4953000"/>
          </a:xfrm>
          <a:prstGeom xmlns:a="http://schemas.openxmlformats.org/drawingml/2006/main" prst="rect">
            <a:avLst/>
          </a:prstGeom>
          <a:ln xmlns:a="http://schemas.openxmlformats.org/drawingml/2006/main" w="7937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4F81A25-2DE9-4688-BB98-36596E09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4588" y="3381437"/>
            <a:ext cx="2748638" cy="4219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6225"/>
              </a:lnSpc>
              <a:buNone/>
            </a:pPr>
            <a:r>
              <a:rPr sz="195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E3510CB-A29D-4B10-89EC-2352798D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4588" y="3955789"/>
            <a:ext cx="2748638" cy="4381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1636"/>
              </a:lnSpc>
              <a:buNone/>
            </a:pPr>
            <a:r>
              <a:rPr sz="300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Baxış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A6FAE66-2AEA-4900-9FDC-DAEB1D85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4588" y="4508190"/>
            <a:ext cx="2574962" cy="1478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7818"/>
              </a:lnSpc>
              <a:buNone/>
            </a:pPr>
            <a:r>
              <a:rPr sz="2100">
                <a:solidFill>
                  <a:srgbClr val="5D5D60"/>
                </a:solidFill>
                <a:latin typeface="Arial"/>
                <a:ea typeface="Arial"/>
                <a:cs typeface="Arial"/>
              </a:rPr>
              <a:t>Müəllim və ya komissiya tələbənin cavabını və düzgün cavabı yanaşı görür.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36CD1EDB-829B-4A57-9989-F9984891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650" y="3068712"/>
            <a:ext cx="3009925" cy="4953000"/>
          </a:xfrm>
          <a:prstGeom xmlns:a="http://schemas.openxmlformats.org/drawingml/2006/main" prst="rect">
            <a:avLst/>
          </a:prstGeom>
          <a:ln xmlns:a="http://schemas.openxmlformats.org/drawingml/2006/main" w="7937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40F8703-60AF-40A1-B456-8470801C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201" y="3381437"/>
            <a:ext cx="2748707" cy="4219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6225"/>
              </a:lnSpc>
              <a:buNone/>
            </a:pPr>
            <a:r>
              <a:rPr sz="195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8CD841B-3FCF-4C0F-889B-03B89087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201" y="3955789"/>
            <a:ext cx="2748707" cy="4381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1636"/>
              </a:lnSpc>
              <a:buNone/>
            </a:pPr>
            <a:r>
              <a:rPr sz="300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Qərar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053E9C3E-C664-4630-87B6-0ABDEDC3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0201" y="4508190"/>
            <a:ext cx="2575024" cy="1118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7818"/>
              </a:lnSpc>
              <a:buNone/>
            </a:pPr>
            <a:r>
              <a:rPr sz="2100">
                <a:solidFill>
                  <a:srgbClr val="5D5D60"/>
                </a:solidFill>
                <a:latin typeface="Arial"/>
                <a:ea typeface="Arial"/>
                <a:cs typeface="Arial"/>
              </a:rPr>
              <a:t>Qəbul, qismən qəbul və ya rədd; hər qərara rəy əlavə olunur.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7179AED2-61CD-4A5E-B121-45C28F1D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0324" y="3068712"/>
            <a:ext cx="3009925" cy="4953000"/>
          </a:xfrm>
          <a:prstGeom xmlns:a="http://schemas.openxmlformats.org/drawingml/2006/main" prst="rect">
            <a:avLst/>
          </a:prstGeom>
          <a:ln xmlns:a="http://schemas.openxmlformats.org/drawingml/2006/main" w="7937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60349BF-8776-45BD-95E0-D5ABAF0B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85875" y="3381437"/>
            <a:ext cx="2748707" cy="4219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6225"/>
              </a:lnSpc>
              <a:buNone/>
            </a:pPr>
            <a:r>
              <a:rPr sz="195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3FC4DA50-854F-4C08-972B-BAB8F860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85875" y="3955789"/>
            <a:ext cx="2748707" cy="4381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1636"/>
              </a:lnSpc>
              <a:buNone/>
            </a:pPr>
            <a:r>
              <a:rPr sz="300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Bal düzəlişi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6ED8BF6-C987-486D-8373-5EDDC6BC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85875" y="4508190"/>
            <a:ext cx="2575024" cy="1478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7818"/>
              </a:lnSpc>
              <a:buNone/>
            </a:pPr>
            <a:r>
              <a:rPr sz="2100">
                <a:solidFill>
                  <a:srgbClr val="5D5D60"/>
                </a:solidFill>
                <a:latin typeface="Arial"/>
                <a:ea typeface="Arial"/>
                <a:cs typeface="Arial"/>
              </a:rPr>
              <a:t>Əvvəlki və yeni bal saxlanılır; tələbəyə avtomatik bildiriş göndərilir.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7C22B0E3-DBC7-4CE6-9F43-8C2EA6B6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044037"/>
            <a:ext cx="17811750" cy="4809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6098"/>
              </a:lnSpc>
              <a:buNone/>
            </a:pPr>
            <a:r>
              <a:rPr sz="2250">
                <a:solidFill>
                  <a:srgbClr val="5D5D60"/>
                </a:solidFill>
                <a:latin typeface="Arial"/>
                <a:ea typeface="Arial"/>
                <a:cs typeface="Arial"/>
              </a:rPr>
              <a:t>Eyni sual üzrə qəbul edilmiş apellyasiyalarda bal düzəlişi bütün tələbələrə toplu tətbiq oluna bilər.</a:t>
            </a:r>
          </a:p>
        </p:txBody>
      </p:sp>
    </p:spTree>
    <p:extLst>
      <p:ext uri="{BB962C8B-B14F-4D97-AF65-F5344CB8AC3E}">
        <p14:creationId xmlns:p14="http://schemas.microsoft.com/office/powerpoint/2010/main" val="126417337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2F2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137C9B6-407A-4912-B358-FD451D97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38150"/>
            <a:ext cx="17811750" cy="3923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18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ETIBARLILIQ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45C576E-E959-4058-8C67-042D7A90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25748"/>
            <a:ext cx="17811750" cy="8191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7080"/>
              </a:lnSpc>
              <a:buNone/>
            </a:pPr>
            <a:r>
              <a:rPr sz="615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Təhlükəsizlik və audit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9DF9509-85EB-46A8-BFBC-8BCF3E1C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25861"/>
            <a:ext cx="1619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0893A8C-DF4B-4423-85B1-70D83CD2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66355"/>
            <a:ext cx="2012212" cy="315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18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GIRIŞ VƏ MƏLUMAT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2577E12-F94A-4B5F-8570-EC5D6877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3485"/>
            <a:ext cx="7829537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F18261D-242F-4067-BA32-FAD43CE7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30972"/>
            <a:ext cx="8064423" cy="4108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7450"/>
              </a:lnSpc>
              <a:buNone/>
            </a:pPr>
            <a:r>
              <a:rPr sz="2175">
                <a:solidFill>
                  <a:srgbClr val="1D1F20"/>
                </a:solidFill>
                <a:latin typeface="Arial"/>
                <a:ea typeface="Arial"/>
                <a:cs typeface="Arial"/>
              </a:rPr>
              <a:t>İcazə yoxlaması hər sorğuda serverdə təkrarlanır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46738C55-CCF6-415C-AA18-A82A5373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13312"/>
            <a:ext cx="7829537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682B677-C750-460A-93F2-45F226EF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30800"/>
            <a:ext cx="8064423" cy="4108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7450"/>
              </a:lnSpc>
              <a:buNone/>
            </a:pPr>
            <a:r>
              <a:rPr sz="2175">
                <a:solidFill>
                  <a:srgbClr val="1D1F20"/>
                </a:solidFill>
                <a:latin typeface="Arial"/>
                <a:ea typeface="Arial"/>
                <a:cs typeface="Arial"/>
              </a:rPr>
              <a:t>Universitetin məlumatı digər təşkilatlardan tam ayrılır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6DC7FC4-8F9C-45C7-93AD-EA60AF3E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13139"/>
            <a:ext cx="7829537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6A437F3-71F0-4EF8-B1BE-C8B23728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30626"/>
            <a:ext cx="8064423" cy="4108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7450"/>
              </a:lnSpc>
              <a:buNone/>
            </a:pPr>
            <a:r>
              <a:rPr sz="2175">
                <a:solidFill>
                  <a:srgbClr val="1D1F20"/>
                </a:solidFill>
                <a:latin typeface="Arial"/>
                <a:ea typeface="Arial"/>
                <a:cs typeface="Arial"/>
              </a:rPr>
              <a:t>Verilənlər bazasında sətir səviyyəli təhlükəsizlik (RLS)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E3CFF6B-3216-4A92-A585-B6E0FD70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12966"/>
            <a:ext cx="7829537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E604DA1-E552-4E27-A855-579E4249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230454"/>
            <a:ext cx="8064423" cy="4108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7450"/>
              </a:lnSpc>
              <a:buNone/>
            </a:pPr>
            <a:r>
              <a:rPr sz="2175">
                <a:solidFill>
                  <a:srgbClr val="1D1F20"/>
                </a:solidFill>
                <a:latin typeface="Arial"/>
                <a:ea typeface="Arial"/>
                <a:cs typeface="Arial"/>
              </a:rPr>
              <a:t>Şifrələr heşlənir, PIN-lər heş və şifrələmə ilə saxlanılır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6D38E9D-A3E0-4C62-ACE8-99A90BED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612621"/>
            <a:ext cx="7829537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F81D6037-92CA-4BE9-8D37-2399334A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812793"/>
            <a:ext cx="7829537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EDBF722-2F48-42A0-9087-1F3197E6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030281"/>
            <a:ext cx="8064423" cy="4108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7450"/>
              </a:lnSpc>
              <a:buNone/>
            </a:pPr>
            <a:r>
              <a:rPr sz="2175">
                <a:solidFill>
                  <a:srgbClr val="1D1F20"/>
                </a:solidFill>
                <a:latin typeface="Arial"/>
                <a:ea typeface="Arial"/>
                <a:cs typeface="Arial"/>
              </a:rPr>
              <a:t>Sürət limitləri, fayl yoxlaması, HTTPS və Cloudflare qoruması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D5E212E-1DC8-49C7-9E8C-7E75DF07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650" y="3066355"/>
            <a:ext cx="2243795" cy="315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18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İMTAHAN BÜTÖVLÜYÜ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6E84D4BC-D141-48D8-A2B5-09116A25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650" y="3613485"/>
            <a:ext cx="7829599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FF257FC-28C5-4F56-B392-CBD57AD9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650" y="3830972"/>
            <a:ext cx="8064487" cy="4108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7450"/>
              </a:lnSpc>
              <a:buNone/>
            </a:pPr>
            <a:r>
              <a:rPr sz="2175">
                <a:solidFill>
                  <a:srgbClr val="1D1F20"/>
                </a:solidFill>
                <a:latin typeface="Arial"/>
                <a:ea typeface="Arial"/>
                <a:cs typeface="Arial"/>
              </a:rPr>
              <a:t>Suallar dərc mərhələsinə qədər tələbəyə görünmür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36729EFF-5F65-4EC2-A775-7997DB72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650" y="4413312"/>
            <a:ext cx="7829599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0167D29-2CD9-42A7-A3DB-E948BC0B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650" y="4630800"/>
            <a:ext cx="8064487" cy="4108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7450"/>
              </a:lnSpc>
              <a:buNone/>
            </a:pPr>
            <a:r>
              <a:rPr sz="2175">
                <a:solidFill>
                  <a:srgbClr val="1D1F20"/>
                </a:solidFill>
                <a:latin typeface="Arial"/>
                <a:ea typeface="Arial"/>
                <a:cs typeface="Arial"/>
              </a:rPr>
              <a:t>Tələbə yalnız öz cəhdinə və öz nəticəsinə baxa bilir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15F1062C-12EC-485B-A59C-F186279A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650" y="5213139"/>
            <a:ext cx="7829599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AA04215-2104-4880-B8E6-ECC557D5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650" y="5430626"/>
            <a:ext cx="8064487" cy="4108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7450"/>
              </a:lnSpc>
              <a:buNone/>
            </a:pPr>
            <a:r>
              <a:rPr sz="2175">
                <a:solidFill>
                  <a:srgbClr val="1D1F20"/>
                </a:solidFill>
                <a:latin typeface="Arial"/>
                <a:ea typeface="Arial"/>
                <a:cs typeface="Arial"/>
              </a:rPr>
              <a:t>Təhvil verilmiş cavabların sonradan dəyişdirilməsi mümkün deyil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A4B06271-9ECE-487A-8380-C8C8AED0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650" y="6012966"/>
            <a:ext cx="7829599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1BB6AC3-235B-488A-BAAE-78A55FCC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650" y="6230454"/>
            <a:ext cx="8064487" cy="4108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7450"/>
              </a:lnSpc>
              <a:buNone/>
            </a:pPr>
            <a:r>
              <a:rPr sz="2175">
                <a:solidFill>
                  <a:srgbClr val="1D1F20"/>
                </a:solidFill>
                <a:latin typeface="Arial"/>
                <a:ea typeface="Arial"/>
                <a:cs typeface="Arial"/>
              </a:rPr>
              <a:t>Bal hesablamaları serverdə aparılır və sərhədlənir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2BF1F912-D50D-45FB-BE4E-EBE7F39D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650" y="7612621"/>
            <a:ext cx="7829599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283FB5B7-214C-491E-90B8-E08DE89A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650" y="6812793"/>
            <a:ext cx="7829599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973C6005-A55F-4EB8-877A-E1261D26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650" y="7030281"/>
            <a:ext cx="8064487" cy="4108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7450"/>
              </a:lnSpc>
              <a:buNone/>
            </a:pPr>
            <a:r>
              <a:rPr sz="2175">
                <a:solidFill>
                  <a:srgbClr val="1D1F20"/>
                </a:solidFill>
                <a:latin typeface="Arial"/>
                <a:ea typeface="Arial"/>
                <a:cs typeface="Arial"/>
              </a:rPr>
              <a:t>Nəzarət insidentləri ayrıca modeldə qeydə alınır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27FCB01E-7398-42FB-B2E2-BF02A40D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450027"/>
            <a:ext cx="16192500" cy="10368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D3D"/>
          </a:solidFill>
          <a:ln xmlns:a="http://schemas.openxmlformats.org/drawingml/2006/main" w="7937">
            <a:solidFill>
              <a:srgbClr val="1D2D3D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72C48B47-A5C3-4483-97E0-924BDF9C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687" y="8762752"/>
            <a:ext cx="16956087" cy="4495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6494"/>
              </a:lnSpc>
              <a:buNone/>
            </a:pPr>
            <a:r>
              <a:rPr sz="2400">
                <a:solidFill>
                  <a:srgbClr val="F2F2F3"/>
                </a:solidFill>
                <a:latin typeface="Arial"/>
                <a:ea typeface="Arial"/>
                <a:cs typeface="Arial"/>
              </a:rPr>
              <a:t>Audit jurnalı: hər kritik əməliyyat üzrə kim, nə vaxt, hansı IP və cihazdan, əvvəlki və yeni dəyər.</a:t>
            </a:r>
          </a:p>
        </p:txBody>
      </p:sp>
    </p:spTree>
    <p:extLst>
      <p:ext uri="{BB962C8B-B14F-4D97-AF65-F5344CB8AC3E}">
        <p14:creationId xmlns:p14="http://schemas.microsoft.com/office/powerpoint/2010/main" val="197362797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2F2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74D6759-9572-41FD-96BF-28A3C721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38150"/>
            <a:ext cx="17811750" cy="3923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18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TEXNIKI ƏSAS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67E0DBC-53B6-43CD-9620-62497630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25748"/>
            <a:ext cx="17811750" cy="8191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7080"/>
              </a:lnSpc>
              <a:buNone/>
            </a:pPr>
            <a:r>
              <a:rPr sz="615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Arxitektura və infrastruktur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0FBC015-2B62-4A78-9BFB-D17FAC02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25861"/>
            <a:ext cx="1619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C451996-16E0-46B2-B32B-4916B131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30637"/>
            <a:ext cx="11201424" cy="1051099"/>
          </a:xfrm>
          <a:prstGeom xmlns:a="http://schemas.openxmlformats.org/drawingml/2006/main" prst="rect">
            <a:avLst/>
          </a:prstGeom>
          <a:ln xmlns:a="http://schemas.openxmlformats.org/drawingml/2006/main" w="7937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CA3F196-B4C6-4657-B84C-08659FDE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550" y="3305224"/>
            <a:ext cx="3562350" cy="5400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4553"/>
              </a:lnSpc>
              <a:buNone/>
            </a:pPr>
            <a:r>
              <a:rPr sz="2550" b="1">
                <a:solidFill>
                  <a:srgbClr val="416180"/>
                </a:solidFill>
                <a:latin typeface="Arial"/>
                <a:ea typeface="Arial"/>
                <a:cs typeface="Arial"/>
              </a:rPr>
              <a:t>Veb qatı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F88C74D-38B5-410F-8515-2A56C96B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1838" y="3342122"/>
            <a:ext cx="7652190" cy="4661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4850"/>
              </a:lnSpc>
              <a:buNone/>
            </a:pPr>
            <a:r>
              <a:rPr sz="2175">
                <a:solidFill>
                  <a:srgbClr val="424244"/>
                </a:solidFill>
                <a:latin typeface="Arial"/>
                <a:ea typeface="Arial"/>
                <a:cs typeface="Arial"/>
              </a:rPr>
              <a:t>Nginx · Cloudflare (qoruma və sürətləndirmə)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AFA4A6F-EB7A-4E8E-B9C5-524817D1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67485"/>
            <a:ext cx="11201424" cy="1051099"/>
          </a:xfrm>
          <a:prstGeom xmlns:a="http://schemas.openxmlformats.org/drawingml/2006/main" prst="rect">
            <a:avLst/>
          </a:prstGeom>
          <a:ln xmlns:a="http://schemas.openxmlformats.org/drawingml/2006/main" w="7937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42E67C8-DEAE-4845-90FF-A17CCAEF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550" y="4642073"/>
            <a:ext cx="3562350" cy="5400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4553"/>
              </a:lnSpc>
              <a:buNone/>
            </a:pPr>
            <a:r>
              <a:rPr sz="2550" b="1">
                <a:solidFill>
                  <a:srgbClr val="416180"/>
                </a:solidFill>
                <a:latin typeface="Arial"/>
                <a:ea typeface="Arial"/>
                <a:cs typeface="Arial"/>
              </a:rPr>
              <a:t>Tətbiq qatı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9C16269-1B7B-432F-BFB3-7A086794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1838" y="4678970"/>
            <a:ext cx="7652190" cy="4661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4850"/>
              </a:lnSpc>
              <a:buNone/>
            </a:pPr>
            <a:r>
              <a:rPr sz="2175">
                <a:solidFill>
                  <a:srgbClr val="424244"/>
                </a:solidFill>
                <a:latin typeface="Arial"/>
                <a:ea typeface="Arial"/>
                <a:cs typeface="Arial"/>
              </a:rPr>
              <a:t>Django + ASGI · real-vaxt WebSocket bağlantıları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5D21C5F-643A-4377-A670-937DAB34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04334"/>
            <a:ext cx="11201424" cy="1051099"/>
          </a:xfrm>
          <a:prstGeom xmlns:a="http://schemas.openxmlformats.org/drawingml/2006/main" prst="rect">
            <a:avLst/>
          </a:prstGeom>
          <a:ln xmlns:a="http://schemas.openxmlformats.org/drawingml/2006/main" w="7937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D01E36B-9562-4176-8D47-3FA74EDC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550" y="5978922"/>
            <a:ext cx="3562350" cy="5400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4553"/>
              </a:lnSpc>
              <a:buNone/>
            </a:pPr>
            <a:r>
              <a:rPr sz="2550" b="1">
                <a:solidFill>
                  <a:srgbClr val="416180"/>
                </a:solidFill>
                <a:latin typeface="Arial"/>
                <a:ea typeface="Arial"/>
                <a:cs typeface="Arial"/>
              </a:rPr>
              <a:t>Məlumat qatı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38814BF-AF59-4C2E-A1D3-5D9F278D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1838" y="6015819"/>
            <a:ext cx="7652190" cy="4661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4850"/>
              </a:lnSpc>
              <a:buNone/>
            </a:pPr>
            <a:r>
              <a:rPr sz="2175">
                <a:solidFill>
                  <a:srgbClr val="424244"/>
                </a:solidFill>
                <a:latin typeface="Arial"/>
                <a:ea typeface="Arial"/>
                <a:cs typeface="Arial"/>
              </a:rPr>
              <a:t>PostgreSQL 16 + PgBouncer · Redis keş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ED53246D-08BA-444A-87D7-B7E0B4F5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041182"/>
            <a:ext cx="11201424" cy="1051099"/>
          </a:xfrm>
          <a:prstGeom xmlns:a="http://schemas.openxmlformats.org/drawingml/2006/main" prst="rect">
            <a:avLst/>
          </a:prstGeom>
          <a:ln xmlns:a="http://schemas.openxmlformats.org/drawingml/2006/main" w="7937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AFADBF7-1FC3-4647-9F71-29488134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550" y="7315770"/>
            <a:ext cx="3562350" cy="5400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4553"/>
              </a:lnSpc>
              <a:buNone/>
            </a:pPr>
            <a:r>
              <a:rPr sz="2550" b="1">
                <a:solidFill>
                  <a:srgbClr val="416180"/>
                </a:solidFill>
                <a:latin typeface="Arial"/>
                <a:ea typeface="Arial"/>
                <a:cs typeface="Arial"/>
              </a:rPr>
              <a:t>Arxa plan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A4F62E1-F832-4016-90EC-2EBB3E8B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1838" y="7352667"/>
            <a:ext cx="7652190" cy="4661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4850"/>
              </a:lnSpc>
              <a:buNone/>
            </a:pPr>
            <a:r>
              <a:rPr sz="2175">
                <a:solidFill>
                  <a:srgbClr val="424244"/>
                </a:solidFill>
                <a:latin typeface="Arial"/>
                <a:ea typeface="Arial"/>
                <a:cs typeface="Arial"/>
              </a:rPr>
              <a:t>Celery növbələri · idxal, ixrac, e-poçt, hesabatlar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5DAC7107-CCDF-47F9-86A6-D1B80333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378031"/>
            <a:ext cx="11201424" cy="1051099"/>
          </a:xfrm>
          <a:prstGeom xmlns:a="http://schemas.openxmlformats.org/drawingml/2006/main" prst="rect">
            <a:avLst/>
          </a:prstGeom>
          <a:ln xmlns:a="http://schemas.openxmlformats.org/drawingml/2006/main" w="7937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BD511A4-99BD-4FA9-9659-D5402E67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550" y="8652619"/>
            <a:ext cx="3562350" cy="5400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4553"/>
              </a:lnSpc>
              <a:buNone/>
            </a:pPr>
            <a:r>
              <a:rPr sz="2550" b="1">
                <a:solidFill>
                  <a:srgbClr val="416180"/>
                </a:solidFill>
                <a:latin typeface="Arial"/>
                <a:ea typeface="Arial"/>
                <a:cs typeface="Arial"/>
              </a:rPr>
              <a:t>Monitorinq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1F1F464-216D-42F7-878B-3BE3F900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1838" y="8689516"/>
            <a:ext cx="7652190" cy="4661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4850"/>
              </a:lnSpc>
              <a:buNone/>
            </a:pPr>
            <a:r>
              <a:rPr sz="2175">
                <a:solidFill>
                  <a:srgbClr val="424244"/>
                </a:solidFill>
                <a:latin typeface="Arial"/>
                <a:ea typeface="Arial"/>
                <a:cs typeface="Arial"/>
              </a:rPr>
              <a:t>Prometheus · Grafana · Alertmanager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26346F7D-806C-40F7-B847-C76340CA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106787"/>
            <a:ext cx="4819650" cy="6895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78171"/>
              </a:lnSpc>
              <a:buNone/>
            </a:pPr>
            <a:r>
              <a:rPr sz="5700" b="1">
                <a:solidFill>
                  <a:srgbClr val="416180"/>
                </a:solidFill>
                <a:latin typeface="Arial"/>
                <a:ea typeface="Arial"/>
                <a:cs typeface="Arial"/>
              </a:rPr>
              <a:t>Docker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9A9DB56-CC38-4281-A3CF-EF6E6BE1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872570"/>
            <a:ext cx="4512945" cy="864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>
                <a:solidFill>
                  <a:srgbClr val="5D5D60"/>
                </a:solidFill>
                <a:latin typeface="Arial"/>
                <a:ea typeface="Arial"/>
                <a:cs typeface="Arial"/>
              </a:rPr>
              <a:t>Konteyner infrastrukturu; ehtiyat nüsxələr avtomatik çıxarılır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841CFBD9-3FF9-4CCF-ABCA-F70CA661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042172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66AA2DF-4793-4E0F-937D-E85994AC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394523"/>
            <a:ext cx="4819650" cy="6895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78171"/>
              </a:lnSpc>
              <a:buNone/>
            </a:pPr>
            <a:r>
              <a:rPr sz="5700" b="1">
                <a:solidFill>
                  <a:srgbClr val="416180"/>
                </a:solidFill>
                <a:latin typeface="Arial"/>
                <a:ea typeface="Arial"/>
                <a:cs typeface="Arial"/>
              </a:rPr>
              <a:t>k6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B73229CA-082D-4F6E-8441-7E7EFEBE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6160306"/>
            <a:ext cx="4512945" cy="864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>
                <a:solidFill>
                  <a:srgbClr val="5D5D60"/>
                </a:solidFill>
                <a:latin typeface="Arial"/>
                <a:ea typeface="Arial"/>
                <a:cs typeface="Arial"/>
              </a:rPr>
              <a:t>Yük testləri: eyni vaxtda minlərlə tələbə ssenarisi yoxlanılıb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61552F21-FA2B-4205-AB39-84E6D74B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329909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917C2C1-6A5D-45F9-A1F2-93012A91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7682260"/>
            <a:ext cx="4819650" cy="6895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78171"/>
              </a:lnSpc>
              <a:buNone/>
            </a:pPr>
            <a:r>
              <a:rPr sz="5700" b="1">
                <a:solidFill>
                  <a:srgbClr val="416180"/>
                </a:solidFill>
                <a:latin typeface="Arial"/>
                <a:ea typeface="Arial"/>
                <a:cs typeface="Arial"/>
              </a:rPr>
              <a:t>2 000+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EE06C09E-2CD2-448C-9A03-6E04A0C8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8448042"/>
            <a:ext cx="4512945" cy="864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2100">
                <a:solidFill>
                  <a:srgbClr val="5D5D60"/>
                </a:solidFill>
                <a:latin typeface="Arial"/>
                <a:ea typeface="Arial"/>
                <a:cs typeface="Arial"/>
              </a:rPr>
              <a:t>Avtomatik test ssenarisi və uçdan-uca test dəsti</a:t>
            </a:r>
          </a:p>
        </p:txBody>
      </p:sp>
    </p:spTree>
    <p:extLst>
      <p:ext uri="{BB962C8B-B14F-4D97-AF65-F5344CB8AC3E}">
        <p14:creationId xmlns:p14="http://schemas.microsoft.com/office/powerpoint/2010/main" val="63652971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2F2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E77ABE0-9215-4D4A-981E-973BF3CC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38150"/>
            <a:ext cx="17811750" cy="3923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18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NƏTICƏ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8C54B28-49BE-455D-A0E9-707028B7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25748"/>
            <a:ext cx="17811750" cy="8191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7080"/>
              </a:lnSpc>
              <a:buNone/>
            </a:pPr>
            <a:r>
              <a:rPr sz="615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Universitet üçün faydalar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C854482-339A-45D6-B004-58BA9980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25861"/>
            <a:ext cx="1619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6233CA4-B41F-4E91-902D-141637C3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83349"/>
            <a:ext cx="539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C54DFA49-E88F-47F7-8B80-C5D3AD25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12" y="2687712"/>
            <a:ext cx="9525" cy="340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7212DEE-59D0-4FE5-BA5B-4B4A81B7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06787"/>
            <a:ext cx="5467536" cy="5074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7745"/>
              </a:lnSpc>
              <a:buNone/>
            </a:pPr>
            <a:r>
              <a:rPr sz="330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Xərcin azalması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FBAECA4-D6B3-42E7-A538-C19F8211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47492"/>
            <a:ext cx="5119602" cy="11980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1800"/>
              </a:lnSpc>
              <a:buNone/>
            </a:pPr>
            <a:r>
              <a:rPr sz="2175">
                <a:solidFill>
                  <a:srgbClr val="5D5D60"/>
                </a:solidFill>
                <a:latin typeface="Arial"/>
                <a:ea typeface="Arial"/>
                <a:cs typeface="Arial"/>
              </a:rPr>
              <a:t>Suallar, cavablar, protokollar və hesabatlar elektron formadadır — çap və saxlama yükü aradan qalxır.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95490E7-7988-499B-ADFA-E5EB78F5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6083349"/>
            <a:ext cx="539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984B6FF-4C60-4119-BAD3-7F3763074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4812" y="2687712"/>
            <a:ext cx="9525" cy="340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7379904-3A31-4378-89C4-02CE9FBD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4325" y="3106787"/>
            <a:ext cx="5006553" cy="5074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7745"/>
              </a:lnSpc>
              <a:buNone/>
            </a:pPr>
            <a:r>
              <a:rPr sz="330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Sürətli təşkil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E0EA9E4-712C-4E1B-9AD3-ED7D2F5E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4325" y="3747492"/>
            <a:ext cx="4687954" cy="11980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1800"/>
              </a:lnSpc>
              <a:buNone/>
            </a:pPr>
            <a:r>
              <a:rPr sz="2175">
                <a:solidFill>
                  <a:srgbClr val="5D5D60"/>
                </a:solidFill>
                <a:latin typeface="Arial"/>
                <a:ea typeface="Arial"/>
                <a:cs typeface="Arial"/>
              </a:rPr>
              <a:t>Hazır bank, imtahan dublikatı, toplu təyinat və avtomatik PIN paylanması hazırlığı günlərdən saatlara endirir.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05E3D58-8747-4FCB-9085-1B86B02E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2749" y="6083349"/>
            <a:ext cx="539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1A6EA39-BAE6-4558-9286-0D9CE5B6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1825" y="3106787"/>
            <a:ext cx="5476267" cy="5074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7745"/>
              </a:lnSpc>
              <a:buNone/>
            </a:pPr>
            <a:r>
              <a:rPr sz="330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Ani nəticə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5CD4CF9-BF95-432A-AD7A-F67298A2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1825" y="3747492"/>
            <a:ext cx="5127777" cy="11980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1800"/>
              </a:lnSpc>
              <a:buNone/>
            </a:pPr>
            <a:r>
              <a:rPr sz="2175">
                <a:solidFill>
                  <a:srgbClr val="5D5D60"/>
                </a:solidFill>
                <a:latin typeface="Arial"/>
                <a:ea typeface="Arial"/>
                <a:cs typeface="Arial"/>
              </a:rPr>
              <a:t>Test imtahanlarında nəticə təhvildən dərhal sonra hazırdır; əl ilə hesablama səhvləri aradan qalxır.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E1FF8352-C848-444D-B738-2BCB1873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12" y="6091287"/>
            <a:ext cx="9525" cy="3395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A06A2BB-8532-4BEE-BA1B-CD31761D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510362"/>
            <a:ext cx="5467536" cy="5074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7745"/>
              </a:lnSpc>
              <a:buNone/>
            </a:pPr>
            <a:r>
              <a:rPr sz="330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Şəffaflıq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F83B115-290D-4FDA-8877-9F15E9B7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151067"/>
            <a:ext cx="5119602" cy="11980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1800"/>
              </a:lnSpc>
              <a:buNone/>
            </a:pPr>
            <a:r>
              <a:rPr sz="2175">
                <a:solidFill>
                  <a:srgbClr val="5D5D60"/>
                </a:solidFill>
                <a:latin typeface="Arial"/>
                <a:ea typeface="Arial"/>
                <a:cs typeface="Arial"/>
              </a:rPr>
              <a:t>Tələbə öz nəticəsini və apellyasiya qərarını sistemdə görür; hər bal dəyişikliyi izlənilir.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761CE1B8-FBBE-46FD-98CF-BC535FC2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4812" y="6091287"/>
            <a:ext cx="9525" cy="3395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1943CA4-2C13-4E98-9B29-A40EF34E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4325" y="6510362"/>
            <a:ext cx="5006553" cy="5074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7745"/>
              </a:lnSpc>
              <a:buNone/>
            </a:pPr>
            <a:r>
              <a:rPr sz="330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Az iş yükü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B9116CC-283A-4E90-9CC2-E68FDA49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4325" y="7151067"/>
            <a:ext cx="4687954" cy="11980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1800"/>
              </a:lnSpc>
              <a:buNone/>
            </a:pPr>
            <a:r>
              <a:rPr sz="2175">
                <a:solidFill>
                  <a:srgbClr val="5D5D60"/>
                </a:solidFill>
                <a:latin typeface="Arial"/>
                <a:ea typeface="Arial"/>
                <a:cs typeface="Arial"/>
              </a:rPr>
              <a:t>Avtomatik qiymətləndirmə, toplu idxal və hazır statistika müəllimin vaxtını dərsə qaytarır.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1CA973B-81E5-4868-A2E6-B44D6C49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1825" y="6510362"/>
            <a:ext cx="5476267" cy="5074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7745"/>
              </a:lnSpc>
              <a:buNone/>
            </a:pPr>
            <a:r>
              <a:rPr sz="330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Vahid idarəetmə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1CF4090-E6FE-41C4-85B1-A9FF6592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1825" y="7151067"/>
            <a:ext cx="5127777" cy="11980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1800"/>
              </a:lnSpc>
              <a:buNone/>
            </a:pPr>
            <a:r>
              <a:rPr sz="2175">
                <a:solidFill>
                  <a:srgbClr val="5D5D60"/>
                </a:solidFill>
                <a:latin typeface="Arial"/>
                <a:ea typeface="Arial"/>
                <a:cs typeface="Arial"/>
              </a:rPr>
              <a:t>İmtahan mərkəzi bütün finalları bir paneldən idarə edir; rəhbərlik mənzərəni real vaxtda görür.</a:t>
            </a:r>
          </a:p>
        </p:txBody>
      </p:sp>
    </p:spTree>
    <p:extLst>
      <p:ext uri="{BB962C8B-B14F-4D97-AF65-F5344CB8AC3E}">
        <p14:creationId xmlns:p14="http://schemas.microsoft.com/office/powerpoint/2010/main" val="176319012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2F2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EB1C1DC-9E04-4B09-9765-BA939F3A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38150"/>
            <a:ext cx="17811750" cy="3923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18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990CD46-D3AC-46B1-B7CC-B1C6E4C1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25748"/>
            <a:ext cx="17811750" cy="8191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7080"/>
              </a:lnSpc>
              <a:buNone/>
            </a:pPr>
            <a:r>
              <a:rPr sz="6150" b="1">
                <a:solidFill>
                  <a:srgbClr val="1D1F20"/>
                </a:solidFill>
                <a:latin typeface="Arial"/>
                <a:ea typeface="Arial"/>
                <a:cs typeface="Arial"/>
              </a:rPr>
              <a:t>Hazırlıq səviyyəsi və yol xəritəsi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7E4F0CD-7A95-4CEF-A7D9-BFE02C44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25861"/>
            <a:ext cx="1619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8FF4B5F-06E5-4E26-A462-26FB8ED3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143"/>
            <a:ext cx="1460029" cy="315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18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TAM QURULUB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1FBC8BC-CEA7-4662-B946-E08C91E7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56310"/>
            <a:ext cx="4416580" cy="3971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3100"/>
              </a:lnSpc>
              <a:buNone/>
            </a:pPr>
            <a:r>
              <a:rPr sz="2175">
                <a:solidFill>
                  <a:srgbClr val="1D1F20"/>
                </a:solidFill>
                <a:latin typeface="Arial"/>
                <a:ea typeface="Arial"/>
                <a:cs typeface="Arial"/>
              </a:rPr>
              <a:t>Rollar və icazə sistemi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1D86B80-88F2-49B8-935F-14BF76A6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610" y="3556310"/>
            <a:ext cx="4416648" cy="3971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3100"/>
              </a:lnSpc>
              <a:buNone/>
            </a:pPr>
            <a:r>
              <a:rPr sz="2175">
                <a:solidFill>
                  <a:srgbClr val="1D1F20"/>
                </a:solidFill>
                <a:latin typeface="Arial"/>
                <a:ea typeface="Arial"/>
                <a:cs typeface="Arial"/>
              </a:rPr>
              <a:t>Final imtahanı və PIN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90CD52E-41B9-456B-BD61-F8A0A415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48683"/>
            <a:ext cx="4416580" cy="3971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3100"/>
              </a:lnSpc>
              <a:buNone/>
            </a:pPr>
            <a:r>
              <a:rPr sz="2175">
                <a:solidFill>
                  <a:srgbClr val="1D1F20"/>
                </a:solidFill>
                <a:latin typeface="Arial"/>
                <a:ea typeface="Arial"/>
                <a:cs typeface="Arial"/>
              </a:rPr>
              <a:t>Sual bankı və toplu idxal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AC22CDC-5A7C-410F-A505-62897CB1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610" y="4048683"/>
            <a:ext cx="4416648" cy="3971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3100"/>
              </a:lnSpc>
              <a:buNone/>
            </a:pPr>
            <a:r>
              <a:rPr sz="2175">
                <a:solidFill>
                  <a:srgbClr val="1D1F20"/>
                </a:solidFill>
                <a:latin typeface="Arial"/>
                <a:ea typeface="Arial"/>
                <a:cs typeface="Arial"/>
              </a:rPr>
              <a:t>Tələbə imtahan interfeysi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EDCAF00-6171-4995-8D30-E6626CE9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41056"/>
            <a:ext cx="4416580" cy="3971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3100"/>
              </a:lnSpc>
              <a:buNone/>
            </a:pPr>
            <a:r>
              <a:rPr sz="2175">
                <a:solidFill>
                  <a:srgbClr val="1D1F20"/>
                </a:solidFill>
                <a:latin typeface="Arial"/>
                <a:ea typeface="Arial"/>
                <a:cs typeface="Arial"/>
              </a:rPr>
              <a:t>İmtahan həyat dövrü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0AE7FDF-3C3E-4B47-9F58-CC48FB4B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610" y="4541056"/>
            <a:ext cx="4416648" cy="3971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3100"/>
              </a:lnSpc>
              <a:buNone/>
            </a:pPr>
            <a:r>
              <a:rPr sz="2175">
                <a:solidFill>
                  <a:srgbClr val="1D1F20"/>
                </a:solidFill>
                <a:latin typeface="Arial"/>
                <a:ea typeface="Arial"/>
                <a:cs typeface="Arial"/>
              </a:rPr>
              <a:t>Avtomatik qiymətləndirmə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C6AC46B-824E-45A6-A8C8-BB1614EE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33429"/>
            <a:ext cx="4416580" cy="3971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3100"/>
              </a:lnSpc>
              <a:buNone/>
            </a:pPr>
            <a:r>
              <a:rPr sz="2175">
                <a:solidFill>
                  <a:srgbClr val="1D1F20"/>
                </a:solidFill>
                <a:latin typeface="Arial"/>
                <a:ea typeface="Arial"/>
                <a:cs typeface="Arial"/>
              </a:rPr>
              <a:t>Apellyasiya sistemi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93296CE-7B33-4AE4-B145-4EFD88C5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610" y="5033429"/>
            <a:ext cx="4416648" cy="3971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3100"/>
              </a:lnSpc>
              <a:buNone/>
            </a:pPr>
            <a:r>
              <a:rPr sz="2175">
                <a:solidFill>
                  <a:srgbClr val="1D1F20"/>
                </a:solidFill>
                <a:latin typeface="Arial"/>
                <a:ea typeface="Arial"/>
                <a:cs typeface="Arial"/>
              </a:rPr>
              <a:t>Təhlükəsizlik və audit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8228AC7-9D17-47CA-921A-C2473944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25802"/>
            <a:ext cx="4416580" cy="3971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3100"/>
              </a:lnSpc>
              <a:buNone/>
            </a:pPr>
            <a:r>
              <a:rPr sz="2175">
                <a:solidFill>
                  <a:srgbClr val="1D1F20"/>
                </a:solidFill>
                <a:latin typeface="Arial"/>
                <a:ea typeface="Arial"/>
                <a:cs typeface="Arial"/>
              </a:rPr>
              <a:t>İnfrastruktur və monitorinq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D708DC5-4830-4FE1-B3C5-5FA10535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610" y="5525802"/>
            <a:ext cx="4416648" cy="3971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3100"/>
              </a:lnSpc>
              <a:buNone/>
            </a:pPr>
            <a:r>
              <a:rPr sz="2175">
                <a:solidFill>
                  <a:srgbClr val="1D1F20"/>
                </a:solidFill>
                <a:latin typeface="Arial"/>
                <a:ea typeface="Arial"/>
                <a:cs typeface="Arial"/>
              </a:rPr>
              <a:t>Test örtüyü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C9E1B15-B216-407A-A959-83F43E3B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265850"/>
            <a:ext cx="833499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3284D37-822C-4124-8B07-BF10D621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580125"/>
            <a:ext cx="1203201" cy="3923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18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DAVAM EDIR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16AE01D-8A91-4ED0-AB59-46AC4073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182011"/>
            <a:ext cx="4135525" cy="7561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3100"/>
              </a:lnSpc>
              <a:buNone/>
            </a:pPr>
            <a:r>
              <a:rPr sz="2175">
                <a:solidFill>
                  <a:srgbClr val="1D1F20"/>
                </a:solidFill>
                <a:latin typeface="Arial"/>
                <a:ea typeface="Arial"/>
                <a:cs typeface="Arial"/>
              </a:rPr>
              <a:t>Canlı monitorinqin dərinləşdirilməsi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E2A5008D-4F86-4021-B5EA-C4A30136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610" y="7182011"/>
            <a:ext cx="4135589" cy="7561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3100"/>
              </a:lnSpc>
              <a:buNone/>
            </a:pPr>
            <a:r>
              <a:rPr sz="2175">
                <a:solidFill>
                  <a:srgbClr val="1D1F20"/>
                </a:solidFill>
                <a:latin typeface="Arial"/>
                <a:ea typeface="Arial"/>
                <a:cs typeface="Arial"/>
              </a:rPr>
              <a:t>Hesabat mərkəzinin genişlənməsi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0B98594F-8473-471B-AFA9-F9B512C3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2320" y="2954424"/>
            <a:ext cx="7247867" cy="6163345"/>
          </a:xfrm>
          <a:prstGeom xmlns:a="http://schemas.openxmlformats.org/drawingml/2006/main" prst="rect">
            <a:avLst/>
          </a:prstGeom>
          <a:ln xmlns:a="http://schemas.openxmlformats.org/drawingml/2006/main" w="7937">
            <a:solidFill>
              <a:srgbClr val="1F1F1F">
                <a:alpha val="16000"/>
              </a:srgbClr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3E22D78-17E6-45B4-9DD7-3CEAFC43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1257" y="3302868"/>
            <a:ext cx="1743385" cy="315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1800" b="1">
                <a:solidFill>
                  <a:srgbClr val="5980A6"/>
                </a:solidFill>
                <a:latin typeface="Arial"/>
                <a:ea typeface="Arial"/>
                <a:cs typeface="Arial"/>
              </a:rPr>
              <a:t>PLANLAŞDIRILIR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CD4CBA73-D5F0-4E8D-A30F-4C718A26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1257" y="3811922"/>
            <a:ext cx="646999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3F1A9CFF-3AAA-453D-95EA-DE4419EA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1257" y="3934160"/>
            <a:ext cx="6664092" cy="4661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4850"/>
              </a:lnSpc>
              <a:buNone/>
            </a:pPr>
            <a:r>
              <a:rPr sz="2175">
                <a:solidFill>
                  <a:srgbClr val="1D1F20"/>
                </a:solidFill>
                <a:latin typeface="Arial"/>
                <a:ea typeface="Arial"/>
                <a:cs typeface="Arial"/>
              </a:rPr>
              <a:t>Kamera əsaslı proktorinq və şəxsiyyət yoxlaması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D47F25D4-B8AC-45A5-9567-033BBDCF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1257" y="4476502"/>
            <a:ext cx="646999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861A3852-5ADF-4F02-BBA8-239FF315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1257" y="4598739"/>
            <a:ext cx="6664092" cy="4661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4850"/>
              </a:lnSpc>
              <a:buNone/>
            </a:pPr>
            <a:r>
              <a:rPr sz="2175">
                <a:solidFill>
                  <a:srgbClr val="1D1F20"/>
                </a:solidFill>
                <a:latin typeface="Arial"/>
                <a:ea typeface="Arial"/>
                <a:cs typeface="Arial"/>
              </a:rPr>
              <a:t>Mobil tətbiq və SMS bildiriş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D3C2D7DB-2B0A-4579-95F5-420A389B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1257" y="5141082"/>
            <a:ext cx="646999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31A6DBD1-3BF7-43D1-9559-8363B6FF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1257" y="5263319"/>
            <a:ext cx="6664092" cy="4661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4850"/>
              </a:lnSpc>
              <a:buNone/>
            </a:pPr>
            <a:r>
              <a:rPr sz="2175">
                <a:solidFill>
                  <a:srgbClr val="1D1F20"/>
                </a:solidFill>
                <a:latin typeface="Arial"/>
                <a:ea typeface="Arial"/>
                <a:cs typeface="Arial"/>
              </a:rPr>
              <a:t>Vahid giriş (SSO) dəstəyi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46A29779-AD48-4347-BD95-1F3C5CB4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1257" y="5805661"/>
            <a:ext cx="646999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4EA81CE6-BA98-4502-B392-7F1EB207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1257" y="5927898"/>
            <a:ext cx="6664092" cy="4661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4850"/>
              </a:lnSpc>
              <a:buNone/>
            </a:pPr>
            <a:r>
              <a:rPr sz="2175">
                <a:solidFill>
                  <a:srgbClr val="1D1F20"/>
                </a:solidFill>
                <a:latin typeface="Arial"/>
                <a:ea typeface="Arial"/>
                <a:cs typeface="Arial"/>
              </a:rPr>
              <a:t>İmtahan protokollarının elektron imzası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C46BCC08-32D2-4816-8DEA-9D152285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1257" y="6470241"/>
            <a:ext cx="646999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9026ED1B-B997-474C-B398-C07312C5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1257" y="6592478"/>
            <a:ext cx="6664092" cy="4661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4850"/>
              </a:lnSpc>
              <a:buNone/>
            </a:pPr>
            <a:r>
              <a:rPr sz="2175">
                <a:solidFill>
                  <a:srgbClr val="1D1F20"/>
                </a:solidFill>
                <a:latin typeface="Arial"/>
                <a:ea typeface="Arial"/>
                <a:cs typeface="Arial"/>
              </a:rPr>
              <a:t>Plagiat aşkarlama modulu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2276D0CA-FE5B-41A4-88CB-B069C9D0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1257" y="7134820"/>
            <a:ext cx="646999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1F20">
              <a:alpha val="16000"/>
            </a:srgbClr>
          </a:solidFill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2AB3DCE-8038-4980-BD37-8738959F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1257" y="7257058"/>
            <a:ext cx="6664092" cy="4661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4850"/>
              </a:lnSpc>
              <a:buNone/>
            </a:pPr>
            <a:r>
              <a:rPr sz="2175">
                <a:solidFill>
                  <a:srgbClr val="1D1F20"/>
                </a:solidFill>
                <a:latin typeface="Arial"/>
                <a:ea typeface="Arial"/>
                <a:cs typeface="Arial"/>
              </a:rPr>
              <a:t>Universitetin digər sistemləri ilə inteqrasiya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EF3BC830-74B7-4B68-A851-896D0838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1257" y="8047012"/>
            <a:ext cx="6664092" cy="7580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0960"/>
              </a:lnSpc>
              <a:buNone/>
            </a:pPr>
            <a:r>
              <a:rPr sz="2025">
                <a:solidFill>
                  <a:srgbClr val="5D5D60"/>
                </a:solidFill>
                <a:latin typeface="Arial"/>
                <a:ea typeface="Arial"/>
                <a:cs typeface="Arial"/>
              </a:rPr>
              <a:t>Hamısı mövcud modulyar arxitektura üzərində, əsas sistemə toxunmadan mərhələli əlavə oluna bilər.</a:t>
            </a:r>
          </a:p>
        </p:txBody>
      </p:sp>
    </p:spTree>
    <p:extLst>
      <p:ext uri="{BB962C8B-B14F-4D97-AF65-F5344CB8AC3E}">
        <p14:creationId xmlns:p14="http://schemas.microsoft.com/office/powerpoint/2010/main" val="147748100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1D2D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0FB3DD5-B112-4BD4-9766-E50FFFF0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38150"/>
            <a:ext cx="17811750" cy="39237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1800" b="1">
                <a:solidFill>
                  <a:srgbClr val="94BCE3"/>
                </a:solidFill>
                <a:latin typeface="Arial"/>
                <a:ea typeface="Arial"/>
                <a:cs typeface="Arial"/>
              </a:rPr>
              <a:t>NÖVBƏTI ADDIM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E5E89CF-2CF4-4C3C-AA12-25818302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82923"/>
            <a:ext cx="17811750" cy="9525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6617"/>
              </a:lnSpc>
              <a:buNone/>
            </a:pPr>
            <a:r>
              <a:rPr sz="7200" b="1">
                <a:solidFill>
                  <a:srgbClr val="F2F2F3"/>
                </a:solidFill>
                <a:latin typeface="Arial"/>
                <a:ea typeface="Arial"/>
                <a:cs typeface="Arial"/>
              </a:rPr>
              <a:t>Mərhələli tətbiq təklifi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BF837B9-9EEF-49CD-85FB-13AAC81D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6423"/>
            <a:ext cx="1619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3">
              <a:alpha val="25000"/>
            </a:srgbClr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6EFE585-ADF7-48DF-8E5A-959C4DF6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59274"/>
            <a:ext cx="5168925" cy="3087439"/>
          </a:xfrm>
          <a:prstGeom xmlns:a="http://schemas.openxmlformats.org/drawingml/2006/main" prst="rect">
            <a:avLst/>
          </a:prstGeom>
          <a:ln xmlns:a="http://schemas.openxmlformats.org/drawingml/2006/main" w="7937">
            <a:solidFill>
              <a:srgbClr val="F2F2F3">
                <a:alpha val="35000"/>
              </a:srgbClr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3FB5CFF-535A-4EF9-9F26-AC6EE84A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550" y="3645792"/>
            <a:ext cx="1670114" cy="4899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1800" b="1">
                <a:solidFill>
                  <a:srgbClr val="94BCE3"/>
                </a:solidFill>
                <a:latin typeface="Arial"/>
                <a:ea typeface="Arial"/>
                <a:cs typeface="Arial"/>
              </a:rPr>
              <a:t>FAZA 1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1A66B26-8CE1-4E4F-9BA1-F5889072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550" y="4135748"/>
            <a:ext cx="4914057" cy="5287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7361"/>
              </a:lnSpc>
              <a:buNone/>
            </a:pPr>
            <a:r>
              <a:rPr sz="3450" b="1">
                <a:solidFill>
                  <a:srgbClr val="F2F2F3"/>
                </a:solidFill>
                <a:latin typeface="Arial"/>
                <a:ea typeface="Arial"/>
                <a:cs typeface="Arial"/>
              </a:rPr>
              <a:t>Pilot semestr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0BFDC6D-49CA-4BFD-B8A9-A719A2AC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550" y="4797847"/>
            <a:ext cx="4601344" cy="11980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1800"/>
              </a:lnSpc>
              <a:buNone/>
            </a:pPr>
            <a:r>
              <a:rPr sz="2175">
                <a:solidFill>
                  <a:srgbClr val="D6EBFF"/>
                </a:solidFill>
                <a:latin typeface="Arial"/>
                <a:ea typeface="Arial"/>
                <a:cs typeface="Arial"/>
              </a:rPr>
              <a:t>Seçilmiş bir-iki fakültə üzrə final imtahanları. Struktur qurulur, heyət öyrədilir, sual bankı yığılır.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AB19152-C628-4983-81A0-9126F815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537" y="3259274"/>
            <a:ext cx="5168925" cy="3087439"/>
          </a:xfrm>
          <a:prstGeom xmlns:a="http://schemas.openxmlformats.org/drawingml/2006/main" prst="rect">
            <a:avLst/>
          </a:prstGeom>
          <a:ln xmlns:a="http://schemas.openxmlformats.org/drawingml/2006/main" w="7937">
            <a:solidFill>
              <a:srgbClr val="F2F2F3">
                <a:alpha val="35000"/>
              </a:srgbClr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A39297F-172C-4FFC-BB54-6B48326F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0338" y="3745247"/>
            <a:ext cx="1939194" cy="3905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1800" b="1">
                <a:solidFill>
                  <a:srgbClr val="94BCE3"/>
                </a:solidFill>
                <a:latin typeface="Arial"/>
                <a:ea typeface="Arial"/>
                <a:cs typeface="Arial"/>
              </a:rPr>
              <a:t>FAZA 2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B2C5BED-FC5C-4FB2-A891-442F1CE9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0338" y="4135748"/>
            <a:ext cx="4914057" cy="5287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7361"/>
              </a:lnSpc>
              <a:buNone/>
            </a:pPr>
            <a:r>
              <a:rPr sz="3450" b="1">
                <a:solidFill>
                  <a:srgbClr val="F2F2F3"/>
                </a:solidFill>
                <a:latin typeface="Arial"/>
                <a:ea typeface="Arial"/>
                <a:cs typeface="Arial"/>
              </a:rPr>
              <a:t>Genişlənmə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FE96DA8-ABD6-477D-B637-A4E55022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0338" y="4797847"/>
            <a:ext cx="4601344" cy="11980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1800"/>
              </a:lnSpc>
              <a:buNone/>
            </a:pPr>
            <a:r>
              <a:rPr sz="2175">
                <a:solidFill>
                  <a:srgbClr val="D6EBFF"/>
                </a:solidFill>
                <a:latin typeface="Arial"/>
                <a:ea typeface="Arial"/>
                <a:cs typeface="Arial"/>
              </a:rPr>
              <a:t>Bütün fakültələrin final imtahanları imtahan mərkəzinin vahid panelinə keçirilir.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D84918B-77E7-43E5-A41C-F78FF05C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1325" y="3259274"/>
            <a:ext cx="5168925" cy="3087439"/>
          </a:xfrm>
          <a:prstGeom xmlns:a="http://schemas.openxmlformats.org/drawingml/2006/main" prst="rect">
            <a:avLst/>
          </a:prstGeom>
          <a:ln xmlns:a="http://schemas.openxmlformats.org/drawingml/2006/main" w="7937">
            <a:solidFill>
              <a:srgbClr val="F2F2F3">
                <a:alpha val="35000"/>
              </a:srgbClr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6856FCC-2E35-468B-891C-AC1E226A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2124" y="3645793"/>
            <a:ext cx="1619339" cy="6472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5273"/>
              </a:lnSpc>
              <a:buNone/>
            </a:pPr>
            <a:r>
              <a:rPr sz="1800" b="1">
                <a:solidFill>
                  <a:srgbClr val="94BCE3"/>
                </a:solidFill>
                <a:latin typeface="Arial"/>
                <a:ea typeface="Arial"/>
                <a:cs typeface="Arial"/>
              </a:rPr>
              <a:t>FAZA 3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F6130B6-6EF7-4F55-A20F-FE608752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2125" y="4135748"/>
            <a:ext cx="4914057" cy="5287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7361"/>
              </a:lnSpc>
              <a:buNone/>
            </a:pPr>
            <a:r>
              <a:rPr sz="3450" b="1">
                <a:solidFill>
                  <a:srgbClr val="F2F2F3"/>
                </a:solidFill>
                <a:latin typeface="Arial"/>
                <a:ea typeface="Arial"/>
                <a:cs typeface="Arial"/>
              </a:rPr>
              <a:t>Tam miqyas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ECE8F1B-42B5-4E48-A4E6-A8D8FE77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2125" y="4797847"/>
            <a:ext cx="4601344" cy="11980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1800"/>
              </a:lnSpc>
              <a:buNone/>
            </a:pPr>
            <a:r>
              <a:rPr sz="2175">
                <a:solidFill>
                  <a:srgbClr val="D6EBFF"/>
                </a:solidFill>
                <a:latin typeface="Arial"/>
                <a:ea typeface="Arial"/>
                <a:cs typeface="Arial"/>
              </a:rPr>
              <a:t>Cari yoxlamalar, laboratoriya işləri, tapşırıqlar və elektron jurnal eyni sistemə əlavə olunur.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8EC10C3-3AFA-45AD-B69A-7538C143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61090"/>
            <a:ext cx="8829675" cy="9639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7818"/>
              </a:lnSpc>
              <a:buNone/>
            </a:pPr>
            <a:r>
              <a:rPr sz="2700">
                <a:solidFill>
                  <a:srgbClr val="F2F2F3"/>
                </a:solidFill>
                <a:latin typeface="Arial"/>
                <a:ea typeface="Arial"/>
                <a:cs typeface="Arial"/>
              </a:rPr>
              <a:t>Pilot üçün lazım olan tək şey bir fakültə, bir semestr və bir məsul əlaqələndiricidir.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3DB7526-9EBB-4D74-AB05-F9CA6299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9222" y="7712430"/>
            <a:ext cx="4351027" cy="4096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31831"/>
              </a:lnSpc>
              <a:buNone/>
            </a:pPr>
            <a:r>
              <a:rPr sz="1950">
                <a:solidFill>
                  <a:srgbClr val="F2F2F3">
                    <a:alpha val="70000"/>
                  </a:srgbClr>
                </a:solidFill>
                <a:latin typeface="Arial"/>
                <a:ea typeface="Arial"/>
                <a:cs typeface="Arial"/>
              </a:rPr>
              <a:t>EMSArena · Elektron İmtahan Sistemi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144A328-076D-4A11-A052-799D416F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9223" y="9115412"/>
            <a:ext cx="4351027" cy="4096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31831"/>
              </a:lnSpc>
              <a:buNone/>
            </a:pPr>
            <a:r>
              <a:rPr sz="1950">
                <a:solidFill>
                  <a:srgbClr val="F2F2F3">
                    <a:alpha val="70000"/>
                  </a:srgbClr>
                </a:solidFill>
                <a:latin typeface="Arial"/>
                <a:ea typeface="Arial"/>
                <a:cs typeface="Arial"/>
              </a:rPr>
              <a:t>Əlaqə: ad, soyad · e-poçt · telefon</a:t>
            </a:r>
          </a:p>
        </p:txBody>
      </p:sp>
    </p:spTree>
    <p:extLst>
      <p:ext uri="{BB962C8B-B14F-4D97-AF65-F5344CB8AC3E}">
        <p14:creationId xmlns:p14="http://schemas.microsoft.com/office/powerpoint/2010/main" val="118363748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2026-07-31T22:10:07.6240000Z</dcterms:created>
  <dcterms:modified xsi:type="dcterms:W3CDTF">2026-07-31T22:10:07.6240000Z</dcterms:modified>
</coreProperties>
</file>